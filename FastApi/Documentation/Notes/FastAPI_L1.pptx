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shal Ghorpade" userId="e5201cb0d4844312" providerId="LiveId" clId="{68CA7340-8443-4B34-AFD2-7249A318863C}"/>
    <pc:docChg chg="undo custSel modSld">
      <pc:chgData name="Harshal Ghorpade" userId="e5201cb0d4844312" providerId="LiveId" clId="{68CA7340-8443-4B34-AFD2-7249A318863C}" dt="2026-09-02T07:39:59.103" v="113" actId="1076"/>
      <pc:docMkLst>
        <pc:docMk/>
      </pc:docMkLst>
      <pc:sldChg chg="modSp mod">
        <pc:chgData name="Harshal Ghorpade" userId="e5201cb0d4844312" providerId="LiveId" clId="{68CA7340-8443-4B34-AFD2-7249A318863C}" dt="2026-09-02T04:34:52.726" v="25" actId="20577"/>
        <pc:sldMkLst>
          <pc:docMk/>
          <pc:sldMk cId="0" sldId="256"/>
        </pc:sldMkLst>
        <pc:spChg chg="mod">
          <ac:chgData name="Harshal Ghorpade" userId="e5201cb0d4844312" providerId="LiveId" clId="{68CA7340-8443-4B34-AFD2-7249A318863C}" dt="2026-09-02T04:34:52.726" v="25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Harshal Ghorpade" userId="e5201cb0d4844312" providerId="LiveId" clId="{68CA7340-8443-4B34-AFD2-7249A318863C}" dt="2026-09-02T04:33:24.689" v="3" actId="20577"/>
          <ac:spMkLst>
            <pc:docMk/>
            <pc:sldMk cId="0" sldId="256"/>
            <ac:spMk id="20" creationId="{00000000-0000-0000-0000-000000000000}"/>
          </ac:spMkLst>
        </pc:spChg>
      </pc:sldChg>
      <pc:sldChg chg="modSp mod">
        <pc:chgData name="Harshal Ghorpade" userId="e5201cb0d4844312" providerId="LiveId" clId="{68CA7340-8443-4B34-AFD2-7249A318863C}" dt="2026-09-02T04:33:39.202" v="15" actId="20577"/>
        <pc:sldMkLst>
          <pc:docMk/>
          <pc:sldMk cId="0" sldId="257"/>
        </pc:sldMkLst>
        <pc:spChg chg="mod">
          <ac:chgData name="Harshal Ghorpade" userId="e5201cb0d4844312" providerId="LiveId" clId="{68CA7340-8443-4B34-AFD2-7249A318863C}" dt="2026-09-02T04:33:39.202" v="15" actId="20577"/>
          <ac:spMkLst>
            <pc:docMk/>
            <pc:sldMk cId="0" sldId="257"/>
            <ac:spMk id="48" creationId="{00000000-0000-0000-0000-000000000000}"/>
          </ac:spMkLst>
        </pc:spChg>
      </pc:sldChg>
      <pc:sldChg chg="modSp mod">
        <pc:chgData name="Harshal Ghorpade" userId="e5201cb0d4844312" providerId="LiveId" clId="{68CA7340-8443-4B34-AFD2-7249A318863C}" dt="2026-09-02T04:33:45.127" v="19" actId="20577"/>
        <pc:sldMkLst>
          <pc:docMk/>
          <pc:sldMk cId="0" sldId="258"/>
        </pc:sldMkLst>
        <pc:spChg chg="mod">
          <ac:chgData name="Harshal Ghorpade" userId="e5201cb0d4844312" providerId="LiveId" clId="{68CA7340-8443-4B34-AFD2-7249A318863C}" dt="2026-09-02T04:33:45.127" v="19" actId="20577"/>
          <ac:spMkLst>
            <pc:docMk/>
            <pc:sldMk cId="0" sldId="258"/>
            <ac:spMk id="17" creationId="{00000000-0000-0000-0000-000000000000}"/>
          </ac:spMkLst>
        </pc:spChg>
      </pc:sldChg>
      <pc:sldChg chg="modSp mod">
        <pc:chgData name="Harshal Ghorpade" userId="e5201cb0d4844312" providerId="LiveId" clId="{68CA7340-8443-4B34-AFD2-7249A318863C}" dt="2026-09-02T04:33:53.402" v="21" actId="20577"/>
        <pc:sldMkLst>
          <pc:docMk/>
          <pc:sldMk cId="0" sldId="259"/>
        </pc:sldMkLst>
        <pc:spChg chg="mod">
          <ac:chgData name="Harshal Ghorpade" userId="e5201cb0d4844312" providerId="LiveId" clId="{68CA7340-8443-4B34-AFD2-7249A318863C}" dt="2026-09-02T04:33:53.402" v="21" actId="20577"/>
          <ac:spMkLst>
            <pc:docMk/>
            <pc:sldMk cId="0" sldId="259"/>
            <ac:spMk id="31" creationId="{00000000-0000-0000-0000-000000000000}"/>
          </ac:spMkLst>
        </pc:spChg>
      </pc:sldChg>
      <pc:sldChg chg="modSp mod">
        <pc:chgData name="Harshal Ghorpade" userId="e5201cb0d4844312" providerId="LiveId" clId="{68CA7340-8443-4B34-AFD2-7249A318863C}" dt="2026-09-02T06:39:15.094" v="111" actId="20577"/>
        <pc:sldMkLst>
          <pc:docMk/>
          <pc:sldMk cId="0" sldId="260"/>
        </pc:sldMkLst>
        <pc:spChg chg="mod">
          <ac:chgData name="Harshal Ghorpade" userId="e5201cb0d4844312" providerId="LiveId" clId="{68CA7340-8443-4B34-AFD2-7249A318863C}" dt="2026-09-02T06:39:15.094" v="111" actId="20577"/>
          <ac:spMkLst>
            <pc:docMk/>
            <pc:sldMk cId="0" sldId="260"/>
            <ac:spMk id="37" creationId="{00000000-0000-0000-0000-000000000000}"/>
          </ac:spMkLst>
        </pc:spChg>
      </pc:sldChg>
      <pc:sldChg chg="modSp mod">
        <pc:chgData name="Harshal Ghorpade" userId="e5201cb0d4844312" providerId="LiveId" clId="{68CA7340-8443-4B34-AFD2-7249A318863C}" dt="2026-09-02T06:09:27.463" v="107" actId="20577"/>
        <pc:sldMkLst>
          <pc:docMk/>
          <pc:sldMk cId="0" sldId="261"/>
        </pc:sldMkLst>
        <pc:spChg chg="mod">
          <ac:chgData name="Harshal Ghorpade" userId="e5201cb0d4844312" providerId="LiveId" clId="{68CA7340-8443-4B34-AFD2-7249A318863C}" dt="2026-09-02T06:09:27.463" v="107" actId="20577"/>
          <ac:spMkLst>
            <pc:docMk/>
            <pc:sldMk cId="0" sldId="261"/>
            <ac:spMk id="16" creationId="{00000000-0000-0000-0000-000000000000}"/>
          </ac:spMkLst>
        </pc:spChg>
      </pc:sldChg>
      <pc:sldChg chg="modSp mod">
        <pc:chgData name="Harshal Ghorpade" userId="e5201cb0d4844312" providerId="LiveId" clId="{68CA7340-8443-4B34-AFD2-7249A318863C}" dt="2026-09-02T06:09:16.785" v="105" actId="20577"/>
        <pc:sldMkLst>
          <pc:docMk/>
          <pc:sldMk cId="0" sldId="262"/>
        </pc:sldMkLst>
        <pc:spChg chg="mod">
          <ac:chgData name="Harshal Ghorpade" userId="e5201cb0d4844312" providerId="LiveId" clId="{68CA7340-8443-4B34-AFD2-7249A318863C}" dt="2026-09-02T06:09:16.785" v="105" actId="20577"/>
          <ac:spMkLst>
            <pc:docMk/>
            <pc:sldMk cId="0" sldId="262"/>
            <ac:spMk id="20" creationId="{00000000-0000-0000-0000-000000000000}"/>
          </ac:spMkLst>
        </pc:spChg>
      </pc:sldChg>
      <pc:sldChg chg="modSp mod">
        <pc:chgData name="Harshal Ghorpade" userId="e5201cb0d4844312" providerId="LiveId" clId="{68CA7340-8443-4B34-AFD2-7249A318863C}" dt="2026-09-02T06:09:12.111" v="103" actId="20577"/>
        <pc:sldMkLst>
          <pc:docMk/>
          <pc:sldMk cId="0" sldId="263"/>
        </pc:sldMkLst>
        <pc:spChg chg="mod">
          <ac:chgData name="Harshal Ghorpade" userId="e5201cb0d4844312" providerId="LiveId" clId="{68CA7340-8443-4B34-AFD2-7249A318863C}" dt="2026-09-02T06:09:12.111" v="103" actId="20577"/>
          <ac:spMkLst>
            <pc:docMk/>
            <pc:sldMk cId="0" sldId="263"/>
            <ac:spMk id="24" creationId="{00000000-0000-0000-0000-000000000000}"/>
          </ac:spMkLst>
        </pc:spChg>
      </pc:sldChg>
      <pc:sldChg chg="modSp mod">
        <pc:chgData name="Harshal Ghorpade" userId="e5201cb0d4844312" providerId="LiveId" clId="{68CA7340-8443-4B34-AFD2-7249A318863C}" dt="2026-09-02T06:09:07.095" v="101" actId="20577"/>
        <pc:sldMkLst>
          <pc:docMk/>
          <pc:sldMk cId="0" sldId="264"/>
        </pc:sldMkLst>
        <pc:spChg chg="mod">
          <ac:chgData name="Harshal Ghorpade" userId="e5201cb0d4844312" providerId="LiveId" clId="{68CA7340-8443-4B34-AFD2-7249A318863C}" dt="2026-09-02T06:09:07.095" v="101" actId="20577"/>
          <ac:spMkLst>
            <pc:docMk/>
            <pc:sldMk cId="0" sldId="264"/>
            <ac:spMk id="16" creationId="{00000000-0000-0000-0000-000000000000}"/>
          </ac:spMkLst>
        </pc:spChg>
      </pc:sldChg>
      <pc:sldChg chg="modSp mod">
        <pc:chgData name="Harshal Ghorpade" userId="e5201cb0d4844312" providerId="LiveId" clId="{68CA7340-8443-4B34-AFD2-7249A318863C}" dt="2026-09-02T07:26:32.008" v="112" actId="1036"/>
        <pc:sldMkLst>
          <pc:docMk/>
          <pc:sldMk cId="0" sldId="265"/>
        </pc:sldMkLst>
        <pc:spChg chg="mod">
          <ac:chgData name="Harshal Ghorpade" userId="e5201cb0d4844312" providerId="LiveId" clId="{68CA7340-8443-4B34-AFD2-7249A318863C}" dt="2026-09-02T07:26:32.008" v="112" actId="1036"/>
          <ac:spMkLst>
            <pc:docMk/>
            <pc:sldMk cId="0" sldId="265"/>
            <ac:spMk id="5" creationId="{00000000-0000-0000-0000-000000000000}"/>
          </ac:spMkLst>
        </pc:spChg>
        <pc:spChg chg="mod">
          <ac:chgData name="Harshal Ghorpade" userId="e5201cb0d4844312" providerId="LiveId" clId="{68CA7340-8443-4B34-AFD2-7249A318863C}" dt="2026-09-02T06:09:01.447" v="99" actId="20577"/>
          <ac:spMkLst>
            <pc:docMk/>
            <pc:sldMk cId="0" sldId="265"/>
            <ac:spMk id="17" creationId="{00000000-0000-0000-0000-000000000000}"/>
          </ac:spMkLst>
        </pc:spChg>
      </pc:sldChg>
      <pc:sldChg chg="modSp mod">
        <pc:chgData name="Harshal Ghorpade" userId="e5201cb0d4844312" providerId="LiveId" clId="{68CA7340-8443-4B34-AFD2-7249A318863C}" dt="2026-09-02T06:08:51.299" v="97" actId="20577"/>
        <pc:sldMkLst>
          <pc:docMk/>
          <pc:sldMk cId="0" sldId="266"/>
        </pc:sldMkLst>
        <pc:spChg chg="mod">
          <ac:chgData name="Harshal Ghorpade" userId="e5201cb0d4844312" providerId="LiveId" clId="{68CA7340-8443-4B34-AFD2-7249A318863C}" dt="2026-09-02T06:08:51.299" v="97" actId="20577"/>
          <ac:spMkLst>
            <pc:docMk/>
            <pc:sldMk cId="0" sldId="266"/>
            <ac:spMk id="27" creationId="{00000000-0000-0000-0000-000000000000}"/>
          </ac:spMkLst>
        </pc:spChg>
      </pc:sldChg>
      <pc:sldChg chg="modSp mod">
        <pc:chgData name="Harshal Ghorpade" userId="e5201cb0d4844312" providerId="LiveId" clId="{68CA7340-8443-4B34-AFD2-7249A318863C}" dt="2026-09-02T06:08:46.755" v="95" actId="20577"/>
        <pc:sldMkLst>
          <pc:docMk/>
          <pc:sldMk cId="0" sldId="267"/>
        </pc:sldMkLst>
        <pc:spChg chg="mod">
          <ac:chgData name="Harshal Ghorpade" userId="e5201cb0d4844312" providerId="LiveId" clId="{68CA7340-8443-4B34-AFD2-7249A318863C}" dt="2026-09-02T06:08:46.755" v="95" actId="20577"/>
          <ac:spMkLst>
            <pc:docMk/>
            <pc:sldMk cId="0" sldId="267"/>
            <ac:spMk id="16" creationId="{00000000-0000-0000-0000-000000000000}"/>
          </ac:spMkLst>
        </pc:spChg>
      </pc:sldChg>
      <pc:sldChg chg="modSp mod">
        <pc:chgData name="Harshal Ghorpade" userId="e5201cb0d4844312" providerId="LiveId" clId="{68CA7340-8443-4B34-AFD2-7249A318863C}" dt="2026-09-02T06:08:41.455" v="93" actId="20577"/>
        <pc:sldMkLst>
          <pc:docMk/>
          <pc:sldMk cId="0" sldId="268"/>
        </pc:sldMkLst>
        <pc:spChg chg="mod">
          <ac:chgData name="Harshal Ghorpade" userId="e5201cb0d4844312" providerId="LiveId" clId="{68CA7340-8443-4B34-AFD2-7249A318863C}" dt="2026-09-02T06:08:41.455" v="93" actId="20577"/>
          <ac:spMkLst>
            <pc:docMk/>
            <pc:sldMk cId="0" sldId="268"/>
            <ac:spMk id="17" creationId="{00000000-0000-0000-0000-000000000000}"/>
          </ac:spMkLst>
        </pc:spChg>
      </pc:sldChg>
      <pc:sldChg chg="modSp mod">
        <pc:chgData name="Harshal Ghorpade" userId="e5201cb0d4844312" providerId="LiveId" clId="{68CA7340-8443-4B34-AFD2-7249A318863C}" dt="2026-09-02T06:08:36.707" v="91" actId="20577"/>
        <pc:sldMkLst>
          <pc:docMk/>
          <pc:sldMk cId="0" sldId="269"/>
        </pc:sldMkLst>
        <pc:spChg chg="mod">
          <ac:chgData name="Harshal Ghorpade" userId="e5201cb0d4844312" providerId="LiveId" clId="{68CA7340-8443-4B34-AFD2-7249A318863C}" dt="2026-09-02T05:53:03.457" v="26" actId="14100"/>
          <ac:spMkLst>
            <pc:docMk/>
            <pc:sldMk cId="0" sldId="269"/>
            <ac:spMk id="4" creationId="{00000000-0000-0000-0000-000000000000}"/>
          </ac:spMkLst>
        </pc:spChg>
        <pc:spChg chg="mod">
          <ac:chgData name="Harshal Ghorpade" userId="e5201cb0d4844312" providerId="LiveId" clId="{68CA7340-8443-4B34-AFD2-7249A318863C}" dt="2026-09-02T05:53:14.795" v="27" actId="14100"/>
          <ac:spMkLst>
            <pc:docMk/>
            <pc:sldMk cId="0" sldId="269"/>
            <ac:spMk id="8" creationId="{00000000-0000-0000-0000-000000000000}"/>
          </ac:spMkLst>
        </pc:spChg>
        <pc:spChg chg="mod">
          <ac:chgData name="Harshal Ghorpade" userId="e5201cb0d4844312" providerId="LiveId" clId="{68CA7340-8443-4B34-AFD2-7249A318863C}" dt="2026-09-02T06:08:36.707" v="91" actId="20577"/>
          <ac:spMkLst>
            <pc:docMk/>
            <pc:sldMk cId="0" sldId="269"/>
            <ac:spMk id="17" creationId="{00000000-0000-0000-0000-000000000000}"/>
          </ac:spMkLst>
        </pc:spChg>
      </pc:sldChg>
      <pc:sldChg chg="modSp mod">
        <pc:chgData name="Harshal Ghorpade" userId="e5201cb0d4844312" providerId="LiveId" clId="{68CA7340-8443-4B34-AFD2-7249A318863C}" dt="2026-09-02T06:08:28.067" v="89" actId="20577"/>
        <pc:sldMkLst>
          <pc:docMk/>
          <pc:sldMk cId="0" sldId="270"/>
        </pc:sldMkLst>
        <pc:spChg chg="mod">
          <ac:chgData name="Harshal Ghorpade" userId="e5201cb0d4844312" providerId="LiveId" clId="{68CA7340-8443-4B34-AFD2-7249A318863C}" dt="2026-09-02T06:08:28.067" v="89" actId="20577"/>
          <ac:spMkLst>
            <pc:docMk/>
            <pc:sldMk cId="0" sldId="270"/>
            <ac:spMk id="24" creationId="{00000000-0000-0000-0000-000000000000}"/>
          </ac:spMkLst>
        </pc:spChg>
      </pc:sldChg>
      <pc:sldChg chg="modSp mod">
        <pc:chgData name="Harshal Ghorpade" userId="e5201cb0d4844312" providerId="LiveId" clId="{68CA7340-8443-4B34-AFD2-7249A318863C}" dt="2026-09-02T06:08:23.103" v="87" actId="20577"/>
        <pc:sldMkLst>
          <pc:docMk/>
          <pc:sldMk cId="0" sldId="271"/>
        </pc:sldMkLst>
        <pc:spChg chg="mod">
          <ac:chgData name="Harshal Ghorpade" userId="e5201cb0d4844312" providerId="LiveId" clId="{68CA7340-8443-4B34-AFD2-7249A318863C}" dt="2026-09-02T06:08:23.103" v="87" actId="20577"/>
          <ac:spMkLst>
            <pc:docMk/>
            <pc:sldMk cId="0" sldId="271"/>
            <ac:spMk id="26" creationId="{00000000-0000-0000-0000-000000000000}"/>
          </ac:spMkLst>
        </pc:spChg>
      </pc:sldChg>
      <pc:sldChg chg="modSp mod">
        <pc:chgData name="Harshal Ghorpade" userId="e5201cb0d4844312" providerId="LiveId" clId="{68CA7340-8443-4B34-AFD2-7249A318863C}" dt="2026-09-02T07:39:59.103" v="113" actId="1076"/>
        <pc:sldMkLst>
          <pc:docMk/>
          <pc:sldMk cId="0" sldId="272"/>
        </pc:sldMkLst>
        <pc:spChg chg="mod">
          <ac:chgData name="Harshal Ghorpade" userId="e5201cb0d4844312" providerId="LiveId" clId="{68CA7340-8443-4B34-AFD2-7249A318863C}" dt="2026-09-02T07:39:59.103" v="113" actId="1076"/>
          <ac:spMkLst>
            <pc:docMk/>
            <pc:sldMk cId="0" sldId="272"/>
            <ac:spMk id="11" creationId="{00000000-0000-0000-0000-000000000000}"/>
          </ac:spMkLst>
        </pc:spChg>
        <pc:spChg chg="mod">
          <ac:chgData name="Harshal Ghorpade" userId="e5201cb0d4844312" providerId="LiveId" clId="{68CA7340-8443-4B34-AFD2-7249A318863C}" dt="2026-09-02T06:08:18.039" v="85" actId="20577"/>
          <ac:spMkLst>
            <pc:docMk/>
            <pc:sldMk cId="0" sldId="272"/>
            <ac:spMk id="17" creationId="{00000000-0000-0000-0000-000000000000}"/>
          </ac:spMkLst>
        </pc:spChg>
      </pc:sldChg>
      <pc:sldChg chg="modSp mod">
        <pc:chgData name="Harshal Ghorpade" userId="e5201cb0d4844312" providerId="LiveId" clId="{68CA7340-8443-4B34-AFD2-7249A318863C}" dt="2026-09-02T06:08:12.647" v="83" actId="20577"/>
        <pc:sldMkLst>
          <pc:docMk/>
          <pc:sldMk cId="0" sldId="273"/>
        </pc:sldMkLst>
        <pc:spChg chg="mod">
          <ac:chgData name="Harshal Ghorpade" userId="e5201cb0d4844312" providerId="LiveId" clId="{68CA7340-8443-4B34-AFD2-7249A318863C}" dt="2026-09-02T06:08:12.647" v="83" actId="20577"/>
          <ac:spMkLst>
            <pc:docMk/>
            <pc:sldMk cId="0" sldId="273"/>
            <ac:spMk id="5" creationId="{00000000-0000-0000-0000-000000000000}"/>
          </ac:spMkLst>
        </pc:spChg>
      </pc:sldChg>
      <pc:sldChg chg="modSp mod">
        <pc:chgData name="Harshal Ghorpade" userId="e5201cb0d4844312" providerId="LiveId" clId="{68CA7340-8443-4B34-AFD2-7249A318863C}" dt="2026-09-02T06:03:34.019" v="38" actId="20577"/>
        <pc:sldMkLst>
          <pc:docMk/>
          <pc:sldMk cId="0" sldId="274"/>
        </pc:sldMkLst>
        <pc:spChg chg="mod">
          <ac:chgData name="Harshal Ghorpade" userId="e5201cb0d4844312" providerId="LiveId" clId="{68CA7340-8443-4B34-AFD2-7249A318863C}" dt="2026-09-02T06:03:34.019" v="38" actId="20577"/>
          <ac:spMkLst>
            <pc:docMk/>
            <pc:sldMk cId="0" sldId="274"/>
            <ac:spMk id="22" creationId="{00000000-0000-0000-0000-000000000000}"/>
          </ac:spMkLst>
        </pc:spChg>
      </pc:sldChg>
      <pc:sldChg chg="modSp mod">
        <pc:chgData name="Harshal Ghorpade" userId="e5201cb0d4844312" providerId="LiveId" clId="{68CA7340-8443-4B34-AFD2-7249A318863C}" dt="2026-09-02T06:05:01.827" v="42" actId="20577"/>
        <pc:sldMkLst>
          <pc:docMk/>
          <pc:sldMk cId="0" sldId="275"/>
        </pc:sldMkLst>
        <pc:spChg chg="mod">
          <ac:chgData name="Harshal Ghorpade" userId="e5201cb0d4844312" providerId="LiveId" clId="{68CA7340-8443-4B34-AFD2-7249A318863C}" dt="2026-09-02T06:05:01.827" v="42" actId="20577"/>
          <ac:spMkLst>
            <pc:docMk/>
            <pc:sldMk cId="0" sldId="275"/>
            <ac:spMk id="31" creationId="{00000000-0000-0000-0000-000000000000}"/>
          </ac:spMkLst>
        </pc:spChg>
      </pc:sldChg>
      <pc:sldChg chg="modSp mod">
        <pc:chgData name="Harshal Ghorpade" userId="e5201cb0d4844312" providerId="LiveId" clId="{68CA7340-8443-4B34-AFD2-7249A318863C}" dt="2026-09-02T06:07:56.791" v="81" actId="20577"/>
        <pc:sldMkLst>
          <pc:docMk/>
          <pc:sldMk cId="0" sldId="276"/>
        </pc:sldMkLst>
        <pc:spChg chg="mod">
          <ac:chgData name="Harshal Ghorpade" userId="e5201cb0d4844312" providerId="LiveId" clId="{68CA7340-8443-4B34-AFD2-7249A318863C}" dt="2026-09-02T06:07:56.791" v="81" actId="20577"/>
          <ac:spMkLst>
            <pc:docMk/>
            <pc:sldMk cId="0" sldId="276"/>
            <ac:spMk id="29" creationId="{00000000-0000-0000-0000-000000000000}"/>
          </ac:spMkLst>
        </pc:spChg>
      </pc:sldChg>
      <pc:sldChg chg="modSp mod">
        <pc:chgData name="Harshal Ghorpade" userId="e5201cb0d4844312" providerId="LiveId" clId="{68CA7340-8443-4B34-AFD2-7249A318863C}" dt="2026-09-02T06:07:49.203" v="77" actId="20577"/>
        <pc:sldMkLst>
          <pc:docMk/>
          <pc:sldMk cId="0" sldId="277"/>
        </pc:sldMkLst>
        <pc:spChg chg="mod">
          <ac:chgData name="Harshal Ghorpade" userId="e5201cb0d4844312" providerId="LiveId" clId="{68CA7340-8443-4B34-AFD2-7249A318863C}" dt="2026-09-02T06:07:49.203" v="77" actId="20577"/>
          <ac:spMkLst>
            <pc:docMk/>
            <pc:sldMk cId="0" sldId="277"/>
            <ac:spMk id="27" creationId="{00000000-0000-0000-0000-000000000000}"/>
          </ac:spMkLst>
        </pc:spChg>
      </pc:sldChg>
      <pc:sldChg chg="modSp mod">
        <pc:chgData name="Harshal Ghorpade" userId="e5201cb0d4844312" providerId="LiveId" clId="{68CA7340-8443-4B34-AFD2-7249A318863C}" dt="2026-09-02T06:07:44.103" v="75" actId="20577"/>
        <pc:sldMkLst>
          <pc:docMk/>
          <pc:sldMk cId="0" sldId="278"/>
        </pc:sldMkLst>
        <pc:spChg chg="mod">
          <ac:chgData name="Harshal Ghorpade" userId="e5201cb0d4844312" providerId="LiveId" clId="{68CA7340-8443-4B34-AFD2-7249A318863C}" dt="2026-09-02T06:07:44.103" v="75" actId="20577"/>
          <ac:spMkLst>
            <pc:docMk/>
            <pc:sldMk cId="0" sldId="278"/>
            <ac:spMk id="21" creationId="{00000000-0000-0000-0000-000000000000}"/>
          </ac:spMkLst>
        </pc:spChg>
      </pc:sldChg>
      <pc:sldChg chg="modSp mod">
        <pc:chgData name="Harshal Ghorpade" userId="e5201cb0d4844312" providerId="LiveId" clId="{68CA7340-8443-4B34-AFD2-7249A318863C}" dt="2026-09-02T06:07:24.971" v="73" actId="20577"/>
        <pc:sldMkLst>
          <pc:docMk/>
          <pc:sldMk cId="0" sldId="279"/>
        </pc:sldMkLst>
        <pc:spChg chg="mod">
          <ac:chgData name="Harshal Ghorpade" userId="e5201cb0d4844312" providerId="LiveId" clId="{68CA7340-8443-4B34-AFD2-7249A318863C}" dt="2026-09-02T06:07:24.971" v="73" actId="20577"/>
          <ac:spMkLst>
            <pc:docMk/>
            <pc:sldMk cId="0" sldId="279"/>
            <ac:spMk id="16" creationId="{00000000-0000-0000-0000-000000000000}"/>
          </ac:spMkLst>
        </pc:spChg>
      </pc:sldChg>
      <pc:sldChg chg="modSp mod">
        <pc:chgData name="Harshal Ghorpade" userId="e5201cb0d4844312" providerId="LiveId" clId="{68CA7340-8443-4B34-AFD2-7249A318863C}" dt="2026-09-02T06:07:18.414" v="63" actId="20577"/>
        <pc:sldMkLst>
          <pc:docMk/>
          <pc:sldMk cId="0" sldId="280"/>
        </pc:sldMkLst>
        <pc:spChg chg="mod">
          <ac:chgData name="Harshal Ghorpade" userId="e5201cb0d4844312" providerId="LiveId" clId="{68CA7340-8443-4B34-AFD2-7249A318863C}" dt="2026-09-02T06:07:18.414" v="63" actId="20577"/>
          <ac:spMkLst>
            <pc:docMk/>
            <pc:sldMk cId="0" sldId="280"/>
            <ac:spMk id="29" creationId="{00000000-0000-0000-0000-000000000000}"/>
          </ac:spMkLst>
        </pc:spChg>
      </pc:sldChg>
      <pc:sldChg chg="modSp mod">
        <pc:chgData name="Harshal Ghorpade" userId="e5201cb0d4844312" providerId="LiveId" clId="{68CA7340-8443-4B34-AFD2-7249A318863C}" dt="2026-09-02T06:07:12.887" v="61" actId="20577"/>
        <pc:sldMkLst>
          <pc:docMk/>
          <pc:sldMk cId="0" sldId="281"/>
        </pc:sldMkLst>
        <pc:spChg chg="mod">
          <ac:chgData name="Harshal Ghorpade" userId="e5201cb0d4844312" providerId="LiveId" clId="{68CA7340-8443-4B34-AFD2-7249A318863C}" dt="2026-09-02T06:07:12.887" v="61" actId="20577"/>
          <ac:spMkLst>
            <pc:docMk/>
            <pc:sldMk cId="0" sldId="281"/>
            <ac:spMk id="17" creationId="{00000000-0000-0000-0000-000000000000}"/>
          </ac:spMkLst>
        </pc:spChg>
      </pc:sldChg>
      <pc:sldChg chg="modSp mod">
        <pc:chgData name="Harshal Ghorpade" userId="e5201cb0d4844312" providerId="LiveId" clId="{68CA7340-8443-4B34-AFD2-7249A318863C}" dt="2026-09-02T06:07:06.847" v="58" actId="20577"/>
        <pc:sldMkLst>
          <pc:docMk/>
          <pc:sldMk cId="0" sldId="282"/>
        </pc:sldMkLst>
        <pc:spChg chg="mod">
          <ac:chgData name="Harshal Ghorpade" userId="e5201cb0d4844312" providerId="LiveId" clId="{68CA7340-8443-4B34-AFD2-7249A318863C}" dt="2026-09-02T06:07:06.847" v="58" actId="20577"/>
          <ac:spMkLst>
            <pc:docMk/>
            <pc:sldMk cId="0" sldId="282"/>
            <ac:spMk id="42" creationId="{00000000-0000-0000-0000-000000000000}"/>
          </ac:spMkLst>
        </pc:spChg>
      </pc:sldChg>
      <pc:sldChg chg="modSp mod">
        <pc:chgData name="Harshal Ghorpade" userId="e5201cb0d4844312" providerId="LiveId" clId="{68CA7340-8443-4B34-AFD2-7249A318863C}" dt="2026-09-02T06:06:55.379" v="46" actId="20577"/>
        <pc:sldMkLst>
          <pc:docMk/>
          <pc:sldMk cId="0" sldId="283"/>
        </pc:sldMkLst>
        <pc:spChg chg="mod">
          <ac:chgData name="Harshal Ghorpade" userId="e5201cb0d4844312" providerId="LiveId" clId="{68CA7340-8443-4B34-AFD2-7249A318863C}" dt="2026-09-02T06:06:55.379" v="46" actId="20577"/>
          <ac:spMkLst>
            <pc:docMk/>
            <pc:sldMk cId="0" sldId="283"/>
            <ac:spMk id="1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2814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132A54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194560" y="4937760"/>
            <a:ext cx="4572000" cy="4572000"/>
          </a:xfrm>
          <a:prstGeom prst="ellipse">
            <a:avLst/>
          </a:prstGeom>
          <a:solidFill>
            <a:srgbClr val="132A54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BACKEND DEVELOPMENT  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Fundamentals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AF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APIs to Your First FastAPI Application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3977640"/>
            <a:ext cx="1554480" cy="640080"/>
          </a:xfrm>
          <a:prstGeom prst="roundRect">
            <a:avLst>
              <a:gd name="adj" fmla="val 10000"/>
            </a:avLst>
          </a:prstGeom>
          <a:solidFill>
            <a:srgbClr val="1B356B"/>
          </a:solidFill>
          <a:ln w="12700">
            <a:solidFill>
              <a:srgbClr val="2A41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39776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377440" y="3977640"/>
            <a:ext cx="2926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633472" y="3977640"/>
            <a:ext cx="1554480" cy="640080"/>
          </a:xfrm>
          <a:prstGeom prst="roundRect">
            <a:avLst>
              <a:gd name="adj" fmla="val 10000"/>
            </a:avLst>
          </a:prstGeom>
          <a:solidFill>
            <a:srgbClr val="1B356B"/>
          </a:solidFill>
          <a:ln w="12700">
            <a:solidFill>
              <a:srgbClr val="2A41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633472" y="39776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87952" y="3977640"/>
            <a:ext cx="2926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443984" y="3977640"/>
            <a:ext cx="1554480" cy="640080"/>
          </a:xfrm>
          <a:prstGeom prst="roundRect">
            <a:avLst>
              <a:gd name="adj" fmla="val 10000"/>
            </a:avLst>
          </a:prstGeom>
          <a:solidFill>
            <a:srgbClr val="1B356B"/>
          </a:solidFill>
          <a:ln w="12700">
            <a:solidFill>
              <a:srgbClr val="2A41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443984" y="39776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998464" y="3977640"/>
            <a:ext cx="2926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54496" y="3977640"/>
            <a:ext cx="1554480" cy="640080"/>
          </a:xfrm>
          <a:prstGeom prst="roundRect">
            <a:avLst>
              <a:gd name="adj" fmla="val 10000"/>
            </a:avLst>
          </a:prstGeom>
          <a:solidFill>
            <a:srgbClr val="1B356B"/>
          </a:solidFill>
          <a:ln w="12700">
            <a:solidFill>
              <a:srgbClr val="2A41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54496" y="39776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0424160" y="548640"/>
            <a:ext cx="502920" cy="50292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424160" y="5303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 }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FUNDAMENTALS  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132A54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194560" y="4937760"/>
            <a:ext cx="4572000" cy="4572000"/>
          </a:xfrm>
          <a:prstGeom prst="ellipse">
            <a:avLst/>
          </a:prstGeom>
          <a:solidFill>
            <a:srgbClr val="132A54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Will Learn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3246120" cy="1051560"/>
          </a:xfrm>
          <a:prstGeom prst="roundRect">
            <a:avLst>
              <a:gd name="adj" fmla="val 7826"/>
            </a:avLst>
          </a:prstGeom>
          <a:solidFill>
            <a:srgbClr val="1B356B"/>
          </a:solidFill>
          <a:ln w="12700">
            <a:solidFill>
              <a:srgbClr val="2A41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41248" y="1947672"/>
            <a:ext cx="548640" cy="54864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41248" y="192938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0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60" dirty="0"/>
          </a:p>
        </p:txBody>
      </p:sp>
      <p:sp>
        <p:nvSpPr>
          <p:cNvPr id="9" name="Text 7"/>
          <p:cNvSpPr/>
          <p:nvPr/>
        </p:nvSpPr>
        <p:spPr>
          <a:xfrm>
            <a:off x="1554480" y="1691640"/>
            <a:ext cx="2194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2080260" y="27432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3108960"/>
            <a:ext cx="3246120" cy="1051560"/>
          </a:xfrm>
          <a:prstGeom prst="roundRect">
            <a:avLst>
              <a:gd name="adj" fmla="val 7826"/>
            </a:avLst>
          </a:prstGeom>
          <a:solidFill>
            <a:srgbClr val="1B356B"/>
          </a:solidFill>
          <a:ln w="12700">
            <a:solidFill>
              <a:srgbClr val="2A41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41248" y="3364992"/>
            <a:ext cx="548640" cy="54864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41248" y="334670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0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60" dirty="0"/>
          </a:p>
        </p:txBody>
      </p:sp>
      <p:sp>
        <p:nvSpPr>
          <p:cNvPr id="14" name="Text 12"/>
          <p:cNvSpPr/>
          <p:nvPr/>
        </p:nvSpPr>
        <p:spPr>
          <a:xfrm>
            <a:off x="1554480" y="3108960"/>
            <a:ext cx="2194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Client–Server Communication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2080260" y="4160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4526280"/>
            <a:ext cx="3246120" cy="1051560"/>
          </a:xfrm>
          <a:prstGeom prst="roundRect">
            <a:avLst>
              <a:gd name="adj" fmla="val 7826"/>
            </a:avLst>
          </a:prstGeom>
          <a:solidFill>
            <a:srgbClr val="1B356B"/>
          </a:solidFill>
          <a:ln w="12700">
            <a:solidFill>
              <a:srgbClr val="2A41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41248" y="4782312"/>
            <a:ext cx="548640" cy="54864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41248" y="476402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0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60" dirty="0"/>
          </a:p>
        </p:txBody>
      </p:sp>
      <p:sp>
        <p:nvSpPr>
          <p:cNvPr id="19" name="Text 17"/>
          <p:cNvSpPr/>
          <p:nvPr/>
        </p:nvSpPr>
        <p:spPr>
          <a:xfrm>
            <a:off x="1554480" y="4526280"/>
            <a:ext cx="2194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4206240" y="1691640"/>
            <a:ext cx="3246120" cy="1051560"/>
          </a:xfrm>
          <a:prstGeom prst="roundRect">
            <a:avLst>
              <a:gd name="adj" fmla="val 7826"/>
            </a:avLst>
          </a:prstGeom>
          <a:solidFill>
            <a:srgbClr val="1B356B"/>
          </a:solidFill>
          <a:ln w="12700">
            <a:solidFill>
              <a:srgbClr val="2A41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407408" y="1947672"/>
            <a:ext cx="548640" cy="54864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407408" y="192938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0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60" dirty="0"/>
          </a:p>
        </p:txBody>
      </p:sp>
      <p:sp>
        <p:nvSpPr>
          <p:cNvPr id="23" name="Text 21"/>
          <p:cNvSpPr/>
          <p:nvPr/>
        </p:nvSpPr>
        <p:spPr>
          <a:xfrm>
            <a:off x="5120640" y="1691640"/>
            <a:ext cx="2194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646420" y="27432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206240" y="3108960"/>
            <a:ext cx="3246120" cy="1051560"/>
          </a:xfrm>
          <a:prstGeom prst="roundRect">
            <a:avLst>
              <a:gd name="adj" fmla="val 7826"/>
            </a:avLst>
          </a:prstGeom>
          <a:solidFill>
            <a:srgbClr val="1B356B"/>
          </a:solidFill>
          <a:ln w="12700">
            <a:solidFill>
              <a:srgbClr val="2A41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407408" y="3364992"/>
            <a:ext cx="548640" cy="54864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407408" y="334670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0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60" dirty="0"/>
          </a:p>
        </p:txBody>
      </p:sp>
      <p:sp>
        <p:nvSpPr>
          <p:cNvPr id="28" name="Text 26"/>
          <p:cNvSpPr/>
          <p:nvPr/>
        </p:nvSpPr>
        <p:spPr>
          <a:xfrm>
            <a:off x="5120640" y="3108960"/>
            <a:ext cx="2194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Starlette + Pydantic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5646420" y="4160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206240" y="4526280"/>
            <a:ext cx="3246120" cy="1051560"/>
          </a:xfrm>
          <a:prstGeom prst="roundRect">
            <a:avLst>
              <a:gd name="adj" fmla="val 7826"/>
            </a:avLst>
          </a:prstGeom>
          <a:solidFill>
            <a:srgbClr val="1B356B"/>
          </a:solidFill>
          <a:ln w="12700">
            <a:solidFill>
              <a:srgbClr val="2A41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407408" y="4782312"/>
            <a:ext cx="548640" cy="54864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407408" y="476402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0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60" dirty="0"/>
          </a:p>
        </p:txBody>
      </p:sp>
      <p:sp>
        <p:nvSpPr>
          <p:cNvPr id="33" name="Text 31"/>
          <p:cNvSpPr/>
          <p:nvPr/>
        </p:nvSpPr>
        <p:spPr>
          <a:xfrm>
            <a:off x="5120640" y="4526280"/>
            <a:ext cx="2194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FastAPI?</a:t>
            </a:r>
            <a:endParaRPr lang="en-US" sz="1450" dirty="0"/>
          </a:p>
        </p:txBody>
      </p:sp>
      <p:sp>
        <p:nvSpPr>
          <p:cNvPr id="34" name="Shape 32"/>
          <p:cNvSpPr/>
          <p:nvPr/>
        </p:nvSpPr>
        <p:spPr>
          <a:xfrm>
            <a:off x="7772400" y="1691640"/>
            <a:ext cx="3246120" cy="1051560"/>
          </a:xfrm>
          <a:prstGeom prst="roundRect">
            <a:avLst>
              <a:gd name="adj" fmla="val 7826"/>
            </a:avLst>
          </a:prstGeom>
          <a:solidFill>
            <a:srgbClr val="1B356B"/>
          </a:solidFill>
          <a:ln w="12700">
            <a:solidFill>
              <a:srgbClr val="2A41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973568" y="1947672"/>
            <a:ext cx="548640" cy="54864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973568" y="192938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0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560" dirty="0"/>
          </a:p>
        </p:txBody>
      </p:sp>
      <p:sp>
        <p:nvSpPr>
          <p:cNvPr id="37" name="Text 35"/>
          <p:cNvSpPr/>
          <p:nvPr/>
        </p:nvSpPr>
        <p:spPr>
          <a:xfrm>
            <a:off x="8686800" y="1691640"/>
            <a:ext cx="2194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Setup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9212580" y="27432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772400" y="3108960"/>
            <a:ext cx="3246120" cy="1051560"/>
          </a:xfrm>
          <a:prstGeom prst="roundRect">
            <a:avLst>
              <a:gd name="adj" fmla="val 7826"/>
            </a:avLst>
          </a:prstGeom>
          <a:solidFill>
            <a:srgbClr val="1B356B"/>
          </a:solidFill>
          <a:ln w="12700">
            <a:solidFill>
              <a:srgbClr val="2A41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7973568" y="3364992"/>
            <a:ext cx="548640" cy="54864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973568" y="334670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0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560" dirty="0"/>
          </a:p>
        </p:txBody>
      </p:sp>
      <p:sp>
        <p:nvSpPr>
          <p:cNvPr id="42" name="Text 40"/>
          <p:cNvSpPr/>
          <p:nvPr/>
        </p:nvSpPr>
        <p:spPr>
          <a:xfrm>
            <a:off x="8686800" y="3108960"/>
            <a:ext cx="2194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</a:t>
            </a:r>
            <a:endParaRPr lang="en-US" sz="1450" dirty="0"/>
          </a:p>
        </p:txBody>
      </p:sp>
      <p:sp>
        <p:nvSpPr>
          <p:cNvPr id="43" name="Text 41"/>
          <p:cNvSpPr/>
          <p:nvPr/>
        </p:nvSpPr>
        <p:spPr>
          <a:xfrm>
            <a:off x="9212580" y="4160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772400" y="4526280"/>
            <a:ext cx="3246120" cy="1051560"/>
          </a:xfrm>
          <a:prstGeom prst="roundRect">
            <a:avLst>
              <a:gd name="adj" fmla="val 7826"/>
            </a:avLst>
          </a:prstGeom>
          <a:solidFill>
            <a:srgbClr val="1B356B"/>
          </a:solidFill>
          <a:ln w="12700">
            <a:solidFill>
              <a:srgbClr val="2A41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7973568" y="4782312"/>
            <a:ext cx="548640" cy="54864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973568" y="476402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0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560" dirty="0"/>
          </a:p>
        </p:txBody>
      </p:sp>
      <p:sp>
        <p:nvSpPr>
          <p:cNvPr id="47" name="Text 45"/>
          <p:cNvSpPr/>
          <p:nvPr/>
        </p:nvSpPr>
        <p:spPr>
          <a:xfrm>
            <a:off x="8686800" y="4526280"/>
            <a:ext cx="2194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Status Codes</a:t>
            </a:r>
            <a:endParaRPr lang="en-US" sz="1450" dirty="0"/>
          </a:p>
        </p:txBody>
      </p:sp>
      <p:sp>
        <p:nvSpPr>
          <p:cNvPr id="48" name="Text 46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FUNDAMENTALS  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3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an API?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309360" cy="2286000"/>
          </a:xfrm>
          <a:prstGeom prst="roundRect">
            <a:avLst>
              <a:gd name="adj" fmla="val 3600"/>
            </a:avLst>
          </a:prstGeom>
          <a:solidFill>
            <a:srgbClr val="F4F6FA"/>
          </a:solidFill>
          <a:ln w="12700">
            <a:solidFill>
              <a:srgbClr val="D8E0EC"/>
            </a:solidFill>
            <a:prstDash val="solid"/>
          </a:ln>
          <a:effectLst>
            <a:outerShdw blurRad="76200" dist="25400" dir="5400000" algn="bl" rotWithShape="0">
              <a:srgbClr val="9CB0CC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783080"/>
            <a:ext cx="56692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r>
              <a:rPr lang="en-US" sz="1600" dirty="0">
                <a:solidFill>
                  <a:srgbClr val="13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(Application Programming Interface) is a way that allows two different software applications to communicate and exchange data with each other.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880360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is used to communicate between the </a:t>
            </a:r>
            <a:r>
              <a:rPr lang="en-US" sz="1450" b="1" dirty="0">
                <a:solidFill>
                  <a:srgbClr val="13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r>
              <a:rPr lang="en-US" sz="14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450" b="1" dirty="0">
                <a:solidFill>
                  <a:srgbClr val="13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r>
              <a:rPr lang="en-US" sz="14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exchange data.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178040" y="1554480"/>
            <a:ext cx="4434840" cy="4572000"/>
          </a:xfrm>
          <a:prstGeom prst="roundRect">
            <a:avLst>
              <a:gd name="adj" fmla="val 1856"/>
            </a:avLst>
          </a:prstGeom>
          <a:solidFill>
            <a:srgbClr val="0B1B3A"/>
          </a:solidFill>
          <a:ln w="12700">
            <a:solidFill>
              <a:srgbClr val="D8E0EC"/>
            </a:solidFill>
            <a:prstDash val="solid"/>
          </a:ln>
          <a:effectLst>
            <a:outerShdw blurRad="76200" dist="25400" dir="5400000" algn="bl" rotWithShape="0">
              <a:srgbClr val="9CB0CC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06640" y="173736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9F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Layer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35240" y="2286000"/>
            <a:ext cx="3520440" cy="777240"/>
          </a:xfrm>
          <a:prstGeom prst="roundRect">
            <a:avLst>
              <a:gd name="adj" fmla="val 8235"/>
            </a:avLst>
          </a:prstGeom>
          <a:solidFill>
            <a:srgbClr val="1B356B"/>
          </a:solidFill>
          <a:ln w="12700">
            <a:solidFill>
              <a:srgbClr val="2A41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635240" y="228600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35240" y="3063240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35240" y="3264408"/>
            <a:ext cx="3520440" cy="777240"/>
          </a:xfrm>
          <a:prstGeom prst="roundRect">
            <a:avLst>
              <a:gd name="adj" fmla="val 8235"/>
            </a:avLst>
          </a:prstGeom>
          <a:solidFill>
            <a:srgbClr val="1B356B"/>
          </a:solidFill>
          <a:ln w="12700">
            <a:solidFill>
              <a:srgbClr val="2A41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635240" y="3264408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35240" y="4041648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35240" y="4242816"/>
            <a:ext cx="3520440" cy="777240"/>
          </a:xfrm>
          <a:prstGeom prst="roundRect">
            <a:avLst>
              <a:gd name="adj" fmla="val 8235"/>
            </a:avLst>
          </a:prstGeom>
          <a:solidFill>
            <a:srgbClr val="1B356B"/>
          </a:solidFill>
          <a:ln w="12700">
            <a:solidFill>
              <a:srgbClr val="2A41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635240" y="4242816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84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FUNDAMENTALS  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4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3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— Real-World Example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2468880"/>
          </a:xfrm>
          <a:prstGeom prst="roundRect">
            <a:avLst>
              <a:gd name="adj" fmla="val 3333"/>
            </a:avLst>
          </a:prstGeom>
          <a:solidFill>
            <a:srgbClr val="F4F6FA"/>
          </a:solidFill>
          <a:ln w="12700">
            <a:solidFill>
              <a:srgbClr val="D8E0EC"/>
            </a:solidFill>
            <a:prstDash val="solid"/>
          </a:ln>
          <a:effectLst>
            <a:outerShdw blurRad="76200" dist="25400" dir="5400000" algn="bl" rotWithShape="0">
              <a:srgbClr val="9CB0CC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Hotel Receptionist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1249680" cy="502920"/>
          </a:xfrm>
          <a:prstGeom prst="roundRect">
            <a:avLst>
              <a:gd name="adj" fmla="val 12727"/>
            </a:avLst>
          </a:prstGeom>
          <a:solidFill>
            <a:srgbClr val="EAEFF6"/>
          </a:solidFill>
          <a:ln w="12700">
            <a:solidFill>
              <a:srgbClr val="D8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1249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072640" y="2148840"/>
            <a:ext cx="292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328672" y="2148840"/>
            <a:ext cx="1249680" cy="502920"/>
          </a:xfrm>
          <a:prstGeom prst="roundRect">
            <a:avLst>
              <a:gd name="adj" fmla="val 12727"/>
            </a:avLst>
          </a:prstGeom>
          <a:solidFill>
            <a:srgbClr val="EAEFF6"/>
          </a:solidFill>
          <a:ln w="12700">
            <a:solidFill>
              <a:srgbClr val="D8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328672" y="2148840"/>
            <a:ext cx="1249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Receptionist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578352" y="2148840"/>
            <a:ext cx="292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834384" y="2148840"/>
            <a:ext cx="1249680" cy="502920"/>
          </a:xfrm>
          <a:prstGeom prst="roundRect">
            <a:avLst>
              <a:gd name="adj" fmla="val 12727"/>
            </a:avLst>
          </a:prstGeom>
          <a:solidFill>
            <a:srgbClr val="EAEFF6"/>
          </a:solidFill>
          <a:ln w="12700">
            <a:solidFill>
              <a:srgbClr val="D8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834384" y="2148840"/>
            <a:ext cx="1249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System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27432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4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request out      ·      response back  ↑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22960" y="315468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receptionist takes your request to the hotel and brings the response back to you.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2200" y="1508760"/>
            <a:ext cx="5440680" cy="2468880"/>
          </a:xfrm>
          <a:prstGeom prst="roundRect">
            <a:avLst>
              <a:gd name="adj" fmla="val 3333"/>
            </a:avLst>
          </a:prstGeom>
          <a:solidFill>
            <a:srgbClr val="0B1B3A"/>
          </a:solidFill>
          <a:ln w="12700">
            <a:solidFill>
              <a:srgbClr val="D8E0EC"/>
            </a:solidFill>
            <a:prstDash val="solid"/>
          </a:ln>
          <a:effectLst>
            <a:outerShdw blurRad="76200" dist="25400" dir="5400000" algn="bl" rotWithShape="0">
              <a:srgbClr val="9CB0CC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46520" y="1691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Software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46520" y="2194560"/>
            <a:ext cx="1249680" cy="502920"/>
          </a:xfrm>
          <a:prstGeom prst="roundRect">
            <a:avLst>
              <a:gd name="adj" fmla="val 12727"/>
            </a:avLst>
          </a:prstGeom>
          <a:solidFill>
            <a:srgbClr val="1B356B"/>
          </a:solidFill>
          <a:ln w="12700">
            <a:solidFill>
              <a:srgbClr val="2A41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46520" y="2194560"/>
            <a:ext cx="1249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696200" y="2194560"/>
            <a:ext cx="292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952232" y="2194560"/>
            <a:ext cx="1249680" cy="502920"/>
          </a:xfrm>
          <a:prstGeom prst="roundRect">
            <a:avLst>
              <a:gd name="adj" fmla="val 12727"/>
            </a:avLst>
          </a:prstGeom>
          <a:solidFill>
            <a:srgbClr val="1B356B"/>
          </a:solidFill>
          <a:ln w="12700">
            <a:solidFill>
              <a:srgbClr val="2A41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952232" y="2194560"/>
            <a:ext cx="1249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201912" y="2194560"/>
            <a:ext cx="292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457944" y="2194560"/>
            <a:ext cx="1249680" cy="502920"/>
          </a:xfrm>
          <a:prstGeom prst="roundRect">
            <a:avLst>
              <a:gd name="adj" fmla="val 12727"/>
            </a:avLst>
          </a:prstGeom>
          <a:solidFill>
            <a:srgbClr val="1B356B"/>
          </a:solidFill>
          <a:ln w="12700">
            <a:solidFill>
              <a:srgbClr val="2A41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457944" y="2194560"/>
            <a:ext cx="1249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46520" y="28803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AF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and response flow both ways through the API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4251960"/>
            <a:ext cx="11064240" cy="1417320"/>
          </a:xfrm>
          <a:prstGeom prst="roundRect">
            <a:avLst>
              <a:gd name="adj" fmla="val 5806"/>
            </a:avLst>
          </a:prstGeom>
          <a:solidFill>
            <a:srgbClr val="EAEFF6"/>
          </a:solidFill>
          <a:ln w="12700">
            <a:solidFill>
              <a:srgbClr val="D8E0EC"/>
            </a:solidFill>
            <a:prstDash val="solid"/>
          </a:ln>
          <a:effectLst>
            <a:outerShdw blurRad="76200" dist="25400" dir="5400000" algn="bl" rotWithShape="0">
              <a:srgbClr val="9CB0CC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68680" y="4617720"/>
            <a:ext cx="640080" cy="64008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68680" y="45994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0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820" dirty="0"/>
          </a:p>
        </p:txBody>
      </p:sp>
      <p:sp>
        <p:nvSpPr>
          <p:cNvPr id="30" name="Text 28"/>
          <p:cNvSpPr/>
          <p:nvPr/>
        </p:nvSpPr>
        <p:spPr>
          <a:xfrm>
            <a:off x="1737360" y="4251960"/>
            <a:ext cx="96012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 </a:t>
            </a:r>
            <a:r>
              <a:rPr lang="en-US" sz="1700" dirty="0">
                <a:solidFill>
                  <a:srgbClr val="13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acts as a middleman between the frontend and backend.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84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FUNDAMENTALS  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4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3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 We Need an API?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an API to allow the frontend and backend to communicate and exchange data.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49240" cy="3977640"/>
          </a:xfrm>
          <a:prstGeom prst="roundRect">
            <a:avLst>
              <a:gd name="adj" fmla="val 2069"/>
            </a:avLst>
          </a:prstGeom>
          <a:solidFill>
            <a:srgbClr val="F4F6FA"/>
          </a:solidFill>
          <a:ln w="12700">
            <a:solidFill>
              <a:srgbClr val="D8E0EC"/>
            </a:solidFill>
            <a:prstDash val="solid"/>
          </a:ln>
          <a:effectLst>
            <a:outerShdw blurRad="76200" dist="25400" dir="5400000" algn="bl" rotWithShape="0">
              <a:srgbClr val="9CB0CC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Path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463040" y="2697480"/>
            <a:ext cx="3703320" cy="457200"/>
          </a:xfrm>
          <a:prstGeom prst="roundRect">
            <a:avLst>
              <a:gd name="adj" fmla="val 14000"/>
            </a:avLst>
          </a:prstGeom>
          <a:solidFill>
            <a:srgbClr val="EAEFF6"/>
          </a:solidFill>
          <a:ln w="12700">
            <a:solidFill>
              <a:srgbClr val="D8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463040" y="269748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63040" y="3154680"/>
            <a:ext cx="37033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463040" y="3264408"/>
            <a:ext cx="3703320" cy="457200"/>
          </a:xfrm>
          <a:prstGeom prst="roundRect">
            <a:avLst>
              <a:gd name="adj" fmla="val 14000"/>
            </a:avLst>
          </a:prstGeom>
          <a:solidFill>
            <a:srgbClr val="EAEFF6"/>
          </a:solidFill>
          <a:ln w="12700">
            <a:solidFill>
              <a:srgbClr val="D8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463040" y="3264408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63040" y="3721608"/>
            <a:ext cx="37033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463040" y="3831336"/>
            <a:ext cx="3703320" cy="457200"/>
          </a:xfrm>
          <a:prstGeom prst="roundRect">
            <a:avLst>
              <a:gd name="adj" fmla="val 14000"/>
            </a:avLst>
          </a:prstGeom>
          <a:solidFill>
            <a:srgbClr val="EAEFF6"/>
          </a:solidFill>
          <a:ln w="12700">
            <a:solidFill>
              <a:srgbClr val="D8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463040" y="3831336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63040" y="4288536"/>
            <a:ext cx="37033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463040" y="4398264"/>
            <a:ext cx="3703320" cy="457200"/>
          </a:xfrm>
          <a:prstGeom prst="roundRect">
            <a:avLst>
              <a:gd name="adj" fmla="val 14000"/>
            </a:avLst>
          </a:prstGeom>
          <a:solidFill>
            <a:srgbClr val="EAEFF6"/>
          </a:solidFill>
          <a:ln w="12700">
            <a:solidFill>
              <a:srgbClr val="D8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463040" y="4398264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63040" y="4855464"/>
            <a:ext cx="37033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463040" y="4965192"/>
            <a:ext cx="3703320" cy="457200"/>
          </a:xfrm>
          <a:prstGeom prst="roundRect">
            <a:avLst>
              <a:gd name="adj" fmla="val 14000"/>
            </a:avLst>
          </a:prstGeom>
          <a:solidFill>
            <a:srgbClr val="EAEFF6"/>
          </a:solidFill>
          <a:ln w="12700">
            <a:solidFill>
              <a:srgbClr val="D8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463040" y="4965192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63640" y="2103120"/>
            <a:ext cx="5349240" cy="3977640"/>
          </a:xfrm>
          <a:prstGeom prst="roundRect">
            <a:avLst>
              <a:gd name="adj" fmla="val 2069"/>
            </a:avLst>
          </a:prstGeom>
          <a:solidFill>
            <a:srgbClr val="0B1B3A"/>
          </a:solidFill>
          <a:ln w="12700">
            <a:solidFill>
              <a:srgbClr val="D8E0EC"/>
            </a:solidFill>
            <a:prstDash val="solid"/>
          </a:ln>
          <a:effectLst>
            <a:outerShdw blurRad="76200" dist="25400" dir="5400000" algn="bl" rotWithShape="0">
              <a:srgbClr val="9CB0CC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37960" y="22860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Path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178040" y="2697480"/>
            <a:ext cx="3703320" cy="457200"/>
          </a:xfrm>
          <a:prstGeom prst="roundRect">
            <a:avLst>
              <a:gd name="adj" fmla="val 14000"/>
            </a:avLst>
          </a:prstGeom>
          <a:solidFill>
            <a:srgbClr val="1B356B"/>
          </a:solidFill>
          <a:ln w="12700">
            <a:solidFill>
              <a:srgbClr val="2A41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178040" y="269748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178040" y="3154680"/>
            <a:ext cx="37033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178040" y="3264408"/>
            <a:ext cx="3703320" cy="457200"/>
          </a:xfrm>
          <a:prstGeom prst="roundRect">
            <a:avLst>
              <a:gd name="adj" fmla="val 14000"/>
            </a:avLst>
          </a:prstGeom>
          <a:solidFill>
            <a:srgbClr val="1B356B"/>
          </a:solidFill>
          <a:ln w="12700">
            <a:solidFill>
              <a:srgbClr val="2A41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178040" y="3264408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178040" y="3721608"/>
            <a:ext cx="37033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178040" y="3831336"/>
            <a:ext cx="3703320" cy="457200"/>
          </a:xfrm>
          <a:prstGeom prst="roundRect">
            <a:avLst>
              <a:gd name="adj" fmla="val 14000"/>
            </a:avLst>
          </a:prstGeom>
          <a:solidFill>
            <a:srgbClr val="1B356B"/>
          </a:solidFill>
          <a:ln w="12700">
            <a:solidFill>
              <a:srgbClr val="2A41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178040" y="3831336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178040" y="4288536"/>
            <a:ext cx="37033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178040" y="4398264"/>
            <a:ext cx="3703320" cy="457200"/>
          </a:xfrm>
          <a:prstGeom prst="roundRect">
            <a:avLst>
              <a:gd name="adj" fmla="val 14000"/>
            </a:avLst>
          </a:prstGeom>
          <a:solidFill>
            <a:srgbClr val="1B356B"/>
          </a:solidFill>
          <a:ln w="12700">
            <a:solidFill>
              <a:srgbClr val="2A41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178040" y="4398264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178040" y="4855464"/>
            <a:ext cx="37033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178040" y="4965192"/>
            <a:ext cx="3703320" cy="457200"/>
          </a:xfrm>
          <a:prstGeom prst="roundRect">
            <a:avLst>
              <a:gd name="adj" fmla="val 14000"/>
            </a:avLst>
          </a:prstGeom>
          <a:solidFill>
            <a:srgbClr val="1B356B"/>
          </a:solidFill>
          <a:ln w="12700">
            <a:solidFill>
              <a:srgbClr val="2A41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178040" y="4965192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84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FUNDAMENTALS  ·  LECTURE 1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4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3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Did We Use Before APIs?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669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modern APIs, applications commonly used direct communication between the client and server, where the client was tightly connected to the server-side application.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would directly request information from the server, and the server would process the request and return a complete page or response.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4114800"/>
            <a:ext cx="5669280" cy="777240"/>
          </a:xfrm>
          <a:prstGeom prst="roundRect">
            <a:avLst>
              <a:gd name="adj" fmla="val 10588"/>
            </a:avLst>
          </a:prstGeom>
          <a:solidFill>
            <a:srgbClr val="EAEFF6"/>
          </a:solidFill>
          <a:ln w="12700">
            <a:solidFill>
              <a:srgbClr val="D8E0EC"/>
            </a:solidFill>
            <a:prstDash val="solid"/>
          </a:ln>
          <a:effectLst>
            <a:outerShdw blurRad="76200" dist="25400" dir="5400000" algn="bl" rotWithShape="0">
              <a:srgbClr val="9CB0CC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5669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3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Tightly Coupled Architecture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92240" y="1554480"/>
            <a:ext cx="5120640" cy="3337560"/>
          </a:xfrm>
          <a:prstGeom prst="roundRect">
            <a:avLst>
              <a:gd name="adj" fmla="val 2466"/>
            </a:avLst>
          </a:prstGeom>
          <a:solidFill>
            <a:srgbClr val="0B1B3A"/>
          </a:solidFill>
          <a:ln w="12700">
            <a:solidFill>
              <a:srgbClr val="D8E0EC"/>
            </a:solidFill>
            <a:prstDash val="solid"/>
          </a:ln>
          <a:effectLst>
            <a:outerShdw blurRad="76200" dist="25400" dir="5400000" algn="bl" rotWithShape="0">
              <a:srgbClr val="9CB0CC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589520" y="2148840"/>
            <a:ext cx="2926080" cy="868680"/>
          </a:xfrm>
          <a:prstGeom prst="roundRect">
            <a:avLst>
              <a:gd name="adj" fmla="val 7368"/>
            </a:avLst>
          </a:prstGeom>
          <a:solidFill>
            <a:srgbClr val="1B356B"/>
          </a:solidFill>
          <a:ln w="12700">
            <a:solidFill>
              <a:srgbClr val="2A41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589520" y="214884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589520" y="301752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589520" y="3218688"/>
            <a:ext cx="2926080" cy="868680"/>
          </a:xfrm>
          <a:prstGeom prst="roundRect">
            <a:avLst>
              <a:gd name="adj" fmla="val 7368"/>
            </a:avLst>
          </a:prstGeom>
          <a:solidFill>
            <a:srgbClr val="1B356B"/>
          </a:solidFill>
          <a:ln w="12700">
            <a:solidFill>
              <a:srgbClr val="2A41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589520" y="3218688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589520" y="408736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589520" y="4288536"/>
            <a:ext cx="2926080" cy="868680"/>
          </a:xfrm>
          <a:prstGeom prst="roundRect">
            <a:avLst>
              <a:gd name="adj" fmla="val 7368"/>
            </a:avLst>
          </a:prstGeom>
          <a:solidFill>
            <a:srgbClr val="1B356B"/>
          </a:solidFill>
          <a:ln w="12700">
            <a:solidFill>
              <a:srgbClr val="2A41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589520" y="4288536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Page /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84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FUNDAMENTALS  · 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4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OF THE TIME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3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Web Application Technologies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2743200"/>
          </a:xfrm>
          <a:prstGeom prst="roundRect">
            <a:avLst>
              <a:gd name="adj" fmla="val 3000"/>
            </a:avLst>
          </a:prstGeom>
          <a:solidFill>
            <a:srgbClr val="F4F6FA"/>
          </a:solidFill>
          <a:ln w="12700">
            <a:solidFill>
              <a:srgbClr val="D8E0EC"/>
            </a:solidFill>
            <a:prstDash val="solid"/>
          </a:ln>
          <a:effectLst>
            <a:outerShdw blurRad="76200" dist="25400" dir="5400000" algn="bl" rotWithShape="0">
              <a:srgbClr val="9CB0CC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920240" y="2011680"/>
            <a:ext cx="822960" cy="82296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920240" y="199339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3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35204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+ MySQL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434840" y="1737360"/>
            <a:ext cx="3566160" cy="2743200"/>
          </a:xfrm>
          <a:prstGeom prst="roundRect">
            <a:avLst>
              <a:gd name="adj" fmla="val 3000"/>
            </a:avLst>
          </a:prstGeom>
          <a:solidFill>
            <a:srgbClr val="F4F6FA"/>
          </a:solidFill>
          <a:ln w="12700">
            <a:solidFill>
              <a:srgbClr val="D8E0EC"/>
            </a:solidFill>
            <a:prstDash val="solid"/>
          </a:ln>
          <a:effectLst>
            <a:outerShdw blurRad="76200" dist="25400" dir="5400000" algn="bl" rotWithShape="0">
              <a:srgbClr val="9CB0CC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806440" y="2011680"/>
            <a:ext cx="822960" cy="82296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806440" y="199339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40" b="1" dirty="0">
                <a:solidFill>
                  <a:srgbClr val="0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</a:t>
            </a:r>
            <a:endParaRPr lang="en-US" sz="1440" dirty="0"/>
          </a:p>
        </p:txBody>
      </p:sp>
      <p:sp>
        <p:nvSpPr>
          <p:cNvPr id="12" name="Text 10"/>
          <p:cNvSpPr/>
          <p:nvPr/>
        </p:nvSpPr>
        <p:spPr>
          <a:xfrm>
            <a:off x="4434840" y="30175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3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434840" y="35204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JSP / Servlets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321040" y="1737360"/>
            <a:ext cx="3566160" cy="2743200"/>
          </a:xfrm>
          <a:prstGeom prst="roundRect">
            <a:avLst>
              <a:gd name="adj" fmla="val 3000"/>
            </a:avLst>
          </a:prstGeom>
          <a:solidFill>
            <a:srgbClr val="F4F6FA"/>
          </a:solidFill>
          <a:ln w="12700">
            <a:solidFill>
              <a:srgbClr val="D8E0EC"/>
            </a:solidFill>
            <a:prstDash val="solid"/>
          </a:ln>
          <a:effectLst>
            <a:outerShdw blurRad="76200" dist="25400" dir="5400000" algn="bl" rotWithShape="0">
              <a:srgbClr val="9CB0CC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692640" y="2011680"/>
            <a:ext cx="822960" cy="82296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692640" y="199339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40" b="1" dirty="0">
                <a:solidFill>
                  <a:srgbClr val="0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</a:t>
            </a:r>
            <a:endParaRPr lang="en-US" sz="2340" dirty="0"/>
          </a:p>
        </p:txBody>
      </p:sp>
      <p:sp>
        <p:nvSpPr>
          <p:cNvPr id="17" name="Text 15"/>
          <p:cNvSpPr/>
          <p:nvPr/>
        </p:nvSpPr>
        <p:spPr>
          <a:xfrm>
            <a:off x="8321040" y="30175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3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321040" y="35204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" y="47091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84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technologies were commonly used to build traditional server-side web applications.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84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FUNDAMENTALS  · 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4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3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of Tightly Coupled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121408" cy="3931920"/>
          </a:xfrm>
          <a:prstGeom prst="roundRect">
            <a:avLst>
              <a:gd name="adj" fmla="val 3879"/>
            </a:avLst>
          </a:prstGeom>
          <a:solidFill>
            <a:srgbClr val="F4F6FA"/>
          </a:solidFill>
          <a:ln w="12700">
            <a:solidFill>
              <a:srgbClr val="D8E0EC"/>
            </a:solidFill>
            <a:prstDash val="solid"/>
          </a:ln>
          <a:effectLst>
            <a:outerShdw blurRad="76200" dist="25400" dir="5400000" algn="bl" rotWithShape="0">
              <a:srgbClr val="9CB0CC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874520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13232" y="2514600"/>
            <a:ext cx="179222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3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Difficult to Modify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13232" y="3337560"/>
            <a:ext cx="179222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one part may require changes in other parts.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834640" y="1737360"/>
            <a:ext cx="2121408" cy="3931920"/>
          </a:xfrm>
          <a:prstGeom prst="roundRect">
            <a:avLst>
              <a:gd name="adj" fmla="val 3879"/>
            </a:avLst>
          </a:prstGeom>
          <a:solidFill>
            <a:srgbClr val="F4F6FA"/>
          </a:solidFill>
          <a:ln w="12700">
            <a:solidFill>
              <a:srgbClr val="D8E0EC"/>
            </a:solidFill>
            <a:prstDash val="solid"/>
          </a:ln>
          <a:effectLst>
            <a:outerShdw blurRad="76200" dist="25400" dir="5400000" algn="bl" rotWithShape="0">
              <a:srgbClr val="9CB0CC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971800" y="1874520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999232" y="2514600"/>
            <a:ext cx="179222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3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Difficult to Scale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2999232" y="3337560"/>
            <a:ext cx="179222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and backend cannot easily be scaled independently.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120640" y="1737360"/>
            <a:ext cx="2121408" cy="3931920"/>
          </a:xfrm>
          <a:prstGeom prst="roundRect">
            <a:avLst>
              <a:gd name="adj" fmla="val 3879"/>
            </a:avLst>
          </a:prstGeom>
          <a:solidFill>
            <a:srgbClr val="F4F6FA"/>
          </a:solidFill>
          <a:ln w="12700">
            <a:solidFill>
              <a:srgbClr val="D8E0EC"/>
            </a:solidFill>
            <a:prstDash val="solid"/>
          </a:ln>
          <a:effectLst>
            <a:outerShdw blurRad="76200" dist="25400" dir="5400000" algn="bl" rotWithShape="0">
              <a:srgbClr val="9CB0CC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257800" y="1874520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285232" y="2514600"/>
            <a:ext cx="179222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3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Difficult to Maintain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285232" y="3337560"/>
            <a:ext cx="179222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applications become harder to manage.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406640" y="1737360"/>
            <a:ext cx="2121408" cy="3931920"/>
          </a:xfrm>
          <a:prstGeom prst="roundRect">
            <a:avLst>
              <a:gd name="adj" fmla="val 3879"/>
            </a:avLst>
          </a:prstGeom>
          <a:solidFill>
            <a:srgbClr val="F4F6FA"/>
          </a:solidFill>
          <a:ln w="12700">
            <a:solidFill>
              <a:srgbClr val="D8E0EC"/>
            </a:solidFill>
            <a:prstDash val="solid"/>
          </a:ln>
          <a:effectLst>
            <a:outerShdw blurRad="76200" dist="25400" dir="5400000" algn="bl" rotWithShape="0">
              <a:srgbClr val="9CB0CC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543800" y="1874520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571232" y="2514600"/>
            <a:ext cx="179222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3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Flexibility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571232" y="3337560"/>
            <a:ext cx="179222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backend cannot easily be used by different clients.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692640" y="1737360"/>
            <a:ext cx="2121408" cy="3931920"/>
          </a:xfrm>
          <a:prstGeom prst="roundRect">
            <a:avLst>
              <a:gd name="adj" fmla="val 3879"/>
            </a:avLst>
          </a:prstGeom>
          <a:solidFill>
            <a:srgbClr val="F4F6FA"/>
          </a:solidFill>
          <a:ln w="12700">
            <a:solidFill>
              <a:srgbClr val="D8E0EC"/>
            </a:solidFill>
            <a:prstDash val="solid"/>
          </a:ln>
          <a:effectLst>
            <a:outerShdw blurRad="76200" dist="25400" dir="5400000" algn="bl" rotWithShape="0">
              <a:srgbClr val="9CB0CC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829800" y="1874520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857232" y="2514600"/>
            <a:ext cx="179222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3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Difficult to Reuse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857232" y="3337560"/>
            <a:ext cx="179222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is often tied to a specific application.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84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FUNDAMENTALS  · 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4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3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Monolithic E-Commerce Application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194560" y="1645920"/>
            <a:ext cx="7772400" cy="4206240"/>
          </a:xfrm>
          <a:prstGeom prst="roundRect">
            <a:avLst>
              <a:gd name="adj" fmla="val 1957"/>
            </a:avLst>
          </a:prstGeom>
          <a:solidFill>
            <a:srgbClr val="0B1B3A"/>
          </a:solidFill>
          <a:ln w="12700">
            <a:solidFill>
              <a:srgbClr val="2A4172"/>
            </a:solidFill>
            <a:prstDash val="solid"/>
          </a:ln>
          <a:effectLst>
            <a:outerShdw blurRad="76200" dist="25400" dir="5400000" algn="bl" rotWithShape="0">
              <a:srgbClr val="9CB0CC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194560" y="18288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Application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354580" y="2606040"/>
            <a:ext cx="1691640" cy="2834640"/>
          </a:xfrm>
          <a:prstGeom prst="roundRect">
            <a:avLst>
              <a:gd name="adj" fmla="val 4324"/>
            </a:avLst>
          </a:prstGeom>
          <a:solidFill>
            <a:srgbClr val="1B356B"/>
          </a:solidFill>
          <a:ln w="12700">
            <a:solidFill>
              <a:srgbClr val="2A41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446020" y="2606040"/>
            <a:ext cx="15087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74820" y="2606040"/>
            <a:ext cx="1691640" cy="2834640"/>
          </a:xfrm>
          <a:prstGeom prst="roundRect">
            <a:avLst>
              <a:gd name="adj" fmla="val 4324"/>
            </a:avLst>
          </a:prstGeom>
          <a:solidFill>
            <a:srgbClr val="1B356B"/>
          </a:solidFill>
          <a:ln w="12700">
            <a:solidFill>
              <a:srgbClr val="2A41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366260" y="2606040"/>
            <a:ext cx="15087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95060" y="2606040"/>
            <a:ext cx="1691640" cy="2834640"/>
          </a:xfrm>
          <a:prstGeom prst="roundRect">
            <a:avLst>
              <a:gd name="adj" fmla="val 4324"/>
            </a:avLst>
          </a:prstGeom>
          <a:solidFill>
            <a:srgbClr val="1B356B"/>
          </a:solidFill>
          <a:ln w="12700">
            <a:solidFill>
              <a:srgbClr val="2A41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86500" y="2606040"/>
            <a:ext cx="15087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Management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15300" y="2606040"/>
            <a:ext cx="1691640" cy="2834640"/>
          </a:xfrm>
          <a:prstGeom prst="roundRect">
            <a:avLst>
              <a:gd name="adj" fmla="val 4324"/>
            </a:avLst>
          </a:prstGeom>
          <a:solidFill>
            <a:srgbClr val="1B356B"/>
          </a:solidFill>
          <a:ln w="12700">
            <a:solidFill>
              <a:srgbClr val="2A41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06740" y="2606040"/>
            <a:ext cx="15087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651760" y="5623560"/>
            <a:ext cx="6858000" cy="502920"/>
          </a:xfrm>
          <a:prstGeom prst="roundRect">
            <a:avLst>
              <a:gd name="adj" fmla="val 16364"/>
            </a:avLst>
          </a:prstGeom>
          <a:solidFill>
            <a:srgbClr val="EAEFF6"/>
          </a:solidFill>
          <a:ln w="12700">
            <a:solidFill>
              <a:srgbClr val="D8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651760" y="562356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i="1" dirty="0">
                <a:solidFill>
                  <a:srgbClr val="13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inside one application.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84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FUNDAMENTALS  · 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4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3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When One Module Has a Problem?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1206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Payment module has a problem, the entire application may be affected.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if you only want to update the Payment module, you may need to deploy the whole application again.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172200" y="1563811"/>
            <a:ext cx="5440680" cy="4663440"/>
          </a:xfrm>
          <a:prstGeom prst="roundRect">
            <a:avLst>
              <a:gd name="adj" fmla="val 1765"/>
            </a:avLst>
          </a:prstGeom>
          <a:solidFill>
            <a:srgbClr val="0B1B3A"/>
          </a:solidFill>
          <a:ln w="12700">
            <a:solidFill>
              <a:srgbClr val="D8E0EC"/>
            </a:solidFill>
            <a:prstDash val="solid"/>
          </a:ln>
          <a:effectLst>
            <a:outerShdw blurRad="76200" dist="25400" dir="5400000" algn="bl" rotWithShape="0">
              <a:srgbClr val="9CB0CC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172200" y="1737360"/>
            <a:ext cx="5440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Application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92240" y="2240280"/>
            <a:ext cx="4800600" cy="566928"/>
          </a:xfrm>
          <a:prstGeom prst="roundRect">
            <a:avLst>
              <a:gd name="adj" fmla="val 9677"/>
            </a:avLst>
          </a:prstGeom>
          <a:solidFill>
            <a:srgbClr val="1B356B"/>
          </a:solidFill>
          <a:ln w="12700">
            <a:solidFill>
              <a:srgbClr val="2A41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92240" y="2240280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92240" y="2926080"/>
            <a:ext cx="4800600" cy="566928"/>
          </a:xfrm>
          <a:prstGeom prst="roundRect">
            <a:avLst>
              <a:gd name="adj" fmla="val 9677"/>
            </a:avLst>
          </a:prstGeom>
          <a:solidFill>
            <a:srgbClr val="1B356B"/>
          </a:solidFill>
          <a:ln w="12700">
            <a:solidFill>
              <a:srgbClr val="2A41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92240" y="2926080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92240" y="3611880"/>
            <a:ext cx="4800600" cy="566928"/>
          </a:xfrm>
          <a:prstGeom prst="roundRect">
            <a:avLst>
              <a:gd name="adj" fmla="val 9677"/>
            </a:avLst>
          </a:prstGeom>
          <a:solidFill>
            <a:srgbClr val="1B356B"/>
          </a:solidFill>
          <a:ln w="12700">
            <a:solidFill>
              <a:srgbClr val="2A41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92240" y="3611880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Management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92240" y="4297680"/>
            <a:ext cx="4800600" cy="566928"/>
          </a:xfrm>
          <a:prstGeom prst="roundRect">
            <a:avLst>
              <a:gd name="adj" fmla="val 9677"/>
            </a:avLst>
          </a:prstGeom>
          <a:solidFill>
            <a:srgbClr val="E0526B"/>
          </a:solidFill>
          <a:ln w="12700">
            <a:solidFill>
              <a:srgbClr val="F089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92240" y="4297680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Payment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709660" y="495604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0" y="5239512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08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application may be affected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84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FUNDAMENTALS  · 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4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LIMITATION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3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If Another Website Wants Our Product Data?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another website wants to display our products for advertising, without an API it is difficult to easily provide and reuse our product data.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5349240" cy="3566160"/>
          </a:xfrm>
          <a:prstGeom prst="roundRect">
            <a:avLst>
              <a:gd name="adj" fmla="val 2308"/>
            </a:avLst>
          </a:prstGeom>
          <a:solidFill>
            <a:srgbClr val="F4F6FA"/>
          </a:solidFill>
          <a:ln w="12700">
            <a:solidFill>
              <a:srgbClr val="D8E0EC"/>
            </a:solidFill>
            <a:prstDash val="solid"/>
          </a:ln>
          <a:effectLst>
            <a:outerShdw blurRad="76200" dist="25400" dir="5400000" algn="bl" rotWithShape="0">
              <a:srgbClr val="9CB0CC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E05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an API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280160" y="3063240"/>
            <a:ext cx="3886200" cy="685800"/>
          </a:xfrm>
          <a:prstGeom prst="roundRect">
            <a:avLst>
              <a:gd name="adj" fmla="val 9333"/>
            </a:avLst>
          </a:prstGeom>
          <a:solidFill>
            <a:srgbClr val="EAEFF6"/>
          </a:solidFill>
          <a:ln w="12700">
            <a:solidFill>
              <a:srgbClr val="D8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80160" y="306324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3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E-Commerce Website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280160" y="37490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80160" y="3950208"/>
            <a:ext cx="3886200" cy="685800"/>
          </a:xfrm>
          <a:prstGeom prst="roundRect">
            <a:avLst>
              <a:gd name="adj" fmla="val 9333"/>
            </a:avLst>
          </a:prstGeom>
          <a:solidFill>
            <a:srgbClr val="EAEFF6"/>
          </a:solidFill>
          <a:ln w="12700">
            <a:solidFill>
              <a:srgbClr val="D8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280160" y="3950208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3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Website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994660" y="376732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5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263640" y="2423160"/>
            <a:ext cx="5349240" cy="3566160"/>
          </a:xfrm>
          <a:prstGeom prst="roundRect">
            <a:avLst>
              <a:gd name="adj" fmla="val 2308"/>
            </a:avLst>
          </a:prstGeom>
          <a:solidFill>
            <a:srgbClr val="0B1B3A"/>
          </a:solidFill>
          <a:ln w="12700">
            <a:solidFill>
              <a:srgbClr val="D8E0EC"/>
            </a:solidFill>
            <a:prstDash val="solid"/>
          </a:ln>
          <a:effectLst>
            <a:outerShdw blurRad="76200" dist="25400" dir="5400000" algn="bl" rotWithShape="0">
              <a:srgbClr val="9CB0CC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37960" y="26060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an API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178040" y="3063240"/>
            <a:ext cx="3703320" cy="502920"/>
          </a:xfrm>
          <a:prstGeom prst="roundRect">
            <a:avLst>
              <a:gd name="adj" fmla="val 12727"/>
            </a:avLst>
          </a:prstGeom>
          <a:solidFill>
            <a:srgbClr val="1B356B"/>
          </a:solidFill>
          <a:ln w="12700">
            <a:solidFill>
              <a:srgbClr val="2A41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178040" y="306324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Website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178040" y="3566160"/>
            <a:ext cx="37033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178040" y="3694176"/>
            <a:ext cx="3703320" cy="502920"/>
          </a:xfrm>
          <a:prstGeom prst="roundRect">
            <a:avLst>
              <a:gd name="adj" fmla="val 12727"/>
            </a:avLst>
          </a:prstGeom>
          <a:solidFill>
            <a:srgbClr val="1B356B"/>
          </a:solidFill>
          <a:ln w="12700">
            <a:solidFill>
              <a:srgbClr val="2A41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178040" y="3694176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178040" y="4197096"/>
            <a:ext cx="37033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178040" y="4325112"/>
            <a:ext cx="3703320" cy="502920"/>
          </a:xfrm>
          <a:prstGeom prst="roundRect">
            <a:avLst>
              <a:gd name="adj" fmla="val 12727"/>
            </a:avLst>
          </a:prstGeom>
          <a:solidFill>
            <a:srgbClr val="1B356B"/>
          </a:solidFill>
          <a:ln w="12700">
            <a:solidFill>
              <a:srgbClr val="2A41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178040" y="4325112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Backend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178040" y="4828032"/>
            <a:ext cx="37033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178040" y="4956048"/>
            <a:ext cx="3703320" cy="502920"/>
          </a:xfrm>
          <a:prstGeom prst="roundRect">
            <a:avLst>
              <a:gd name="adj" fmla="val 12727"/>
            </a:avLst>
          </a:prstGeom>
          <a:solidFill>
            <a:srgbClr val="1B356B"/>
          </a:solidFill>
          <a:ln w="12700">
            <a:solidFill>
              <a:srgbClr val="2A41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178040" y="4956048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Data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13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message:  </a:t>
            </a:r>
            <a:r>
              <a:rPr lang="en-US" sz="1300" i="1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make data and functionality reusable by different applications.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84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FUNDAMENTALS  · 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4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132A54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194560" y="4937760"/>
            <a:ext cx="4572000" cy="4572000"/>
          </a:xfrm>
          <a:prstGeom prst="ellipse">
            <a:avLst/>
          </a:prstGeom>
          <a:solidFill>
            <a:srgbClr val="132A54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CHAPTER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9601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FastAPI?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r>
              <a:rPr lang="en-US" sz="17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modern Python web framework used to build APIs and backend applications quickly and efficiently.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3977640"/>
            <a:ext cx="1950720" cy="594360"/>
          </a:xfrm>
          <a:prstGeom prst="roundRect">
            <a:avLst>
              <a:gd name="adj" fmla="val 10769"/>
            </a:avLst>
          </a:prstGeom>
          <a:solidFill>
            <a:srgbClr val="1B356B"/>
          </a:solidFill>
          <a:ln w="12700">
            <a:solidFill>
              <a:srgbClr val="2A41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3977640"/>
            <a:ext cx="1950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682240" y="3977640"/>
            <a:ext cx="2926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938272" y="3977640"/>
            <a:ext cx="1950720" cy="594360"/>
          </a:xfrm>
          <a:prstGeom prst="roundRect">
            <a:avLst>
              <a:gd name="adj" fmla="val 10769"/>
            </a:avLst>
          </a:prstGeom>
          <a:solidFill>
            <a:srgbClr val="1B356B"/>
          </a:solidFill>
          <a:ln w="12700">
            <a:solidFill>
              <a:srgbClr val="2A41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938272" y="3977640"/>
            <a:ext cx="1950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88992" y="3977640"/>
            <a:ext cx="2926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145024" y="3977640"/>
            <a:ext cx="1950720" cy="594360"/>
          </a:xfrm>
          <a:prstGeom prst="roundRect">
            <a:avLst>
              <a:gd name="adj" fmla="val 10769"/>
            </a:avLst>
          </a:prstGeom>
          <a:solidFill>
            <a:srgbClr val="1B356B"/>
          </a:solidFill>
          <a:ln w="12700">
            <a:solidFill>
              <a:srgbClr val="2A41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145024" y="3977640"/>
            <a:ext cx="1950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/ Backend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48463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 •  Fast  •  Python-based  •  API-focused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FUNDAMENTALS  · 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3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FastAPI Built With?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is built using Starlette for web functionality and Pydantic for data validation and serialization.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632808" y="2148840"/>
            <a:ext cx="2926080" cy="685800"/>
          </a:xfrm>
          <a:prstGeom prst="roundRect">
            <a:avLst>
              <a:gd name="adj" fmla="val 10667"/>
            </a:avLst>
          </a:prstGeom>
          <a:solidFill>
            <a:srgbClr val="0B1B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632808" y="214884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095848" y="2834640"/>
            <a:ext cx="0" cy="320040"/>
          </a:xfrm>
          <a:prstGeom prst="line">
            <a:avLst/>
          </a:prstGeom>
          <a:noFill/>
          <a:ln w="19050">
            <a:solidFill>
              <a:srgbClr val="8493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566160" y="3154680"/>
            <a:ext cx="5029200" cy="0"/>
          </a:xfrm>
          <a:prstGeom prst="line">
            <a:avLst/>
          </a:prstGeom>
          <a:noFill/>
          <a:ln w="19050">
            <a:solidFill>
              <a:srgbClr val="8493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566160" y="3154680"/>
            <a:ext cx="0" cy="320040"/>
          </a:xfrm>
          <a:prstGeom prst="line">
            <a:avLst/>
          </a:prstGeom>
          <a:noFill/>
          <a:ln w="19050">
            <a:solidFill>
              <a:srgbClr val="8493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595360" y="3154680"/>
            <a:ext cx="0" cy="320040"/>
          </a:xfrm>
          <a:prstGeom prst="line">
            <a:avLst/>
          </a:prstGeom>
          <a:noFill/>
          <a:ln w="19050">
            <a:solidFill>
              <a:srgbClr val="8493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828800" y="3474720"/>
            <a:ext cx="3474720" cy="1828800"/>
          </a:xfrm>
          <a:prstGeom prst="roundRect">
            <a:avLst>
              <a:gd name="adj" fmla="val 4500"/>
            </a:avLst>
          </a:prstGeom>
          <a:solidFill>
            <a:srgbClr val="F4F6FA"/>
          </a:solidFill>
          <a:ln w="12700">
            <a:solidFill>
              <a:srgbClr val="D8E0EC"/>
            </a:solidFill>
            <a:prstDash val="solid"/>
          </a:ln>
          <a:effectLst>
            <a:outerShdw blurRad="76200" dist="25400" dir="5400000" algn="bl" rotWithShape="0">
              <a:srgbClr val="9CB0CC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828800" y="36576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Starlette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011680" y="416052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HTTP</a:t>
            </a:r>
            <a:endParaRPr lang="en-US" sz="14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Functionality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0" y="3474720"/>
            <a:ext cx="3474720" cy="1828800"/>
          </a:xfrm>
          <a:prstGeom prst="roundRect">
            <a:avLst>
              <a:gd name="adj" fmla="val 4500"/>
            </a:avLst>
          </a:prstGeom>
          <a:solidFill>
            <a:srgbClr val="F4F6FA"/>
          </a:solidFill>
          <a:ln w="12700">
            <a:solidFill>
              <a:srgbClr val="D8E0EC"/>
            </a:solidFill>
            <a:prstDash val="solid"/>
          </a:ln>
          <a:effectLst>
            <a:outerShdw blurRad="76200" dist="25400" dir="5400000" algn="bl" rotWithShape="0">
              <a:srgbClr val="9CB0CC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0" y="36576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Pydantic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040880" y="416052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84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FUNDAMENTALS  · 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4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3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Starlette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309360" cy="3138818"/>
          </a:xfrm>
          <a:prstGeom prst="roundRect">
            <a:avLst>
              <a:gd name="adj" fmla="val 2813"/>
            </a:avLst>
          </a:prstGeom>
          <a:solidFill>
            <a:srgbClr val="F4F6FA"/>
          </a:solidFill>
          <a:ln w="12700">
            <a:solidFill>
              <a:srgbClr val="D8E0EC"/>
            </a:solidFill>
            <a:prstDash val="solid"/>
          </a:ln>
          <a:effectLst>
            <a:outerShdw blurRad="76200" dist="25400" dir="5400000" algn="bl" rotWithShape="0">
              <a:srgbClr val="9CB0CC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783080"/>
            <a:ext cx="5669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Starlette</a:t>
            </a:r>
            <a:r>
              <a:rPr lang="en-US" sz="1500" dirty="0">
                <a:solidFill>
                  <a:srgbClr val="13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lightweight Python framework/toolkit used for building web applications and handling HTTP requests and responses.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88036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handles things like: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68680" y="3200400"/>
            <a:ext cx="5669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communication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178040" y="1554480"/>
            <a:ext cx="4434840" cy="3138818"/>
          </a:xfrm>
          <a:prstGeom prst="roundRect">
            <a:avLst>
              <a:gd name="adj" fmla="val 2813"/>
            </a:avLst>
          </a:prstGeom>
          <a:solidFill>
            <a:srgbClr val="0B1B3A"/>
          </a:solidFill>
          <a:ln w="12700">
            <a:solidFill>
              <a:srgbClr val="D8E0EC"/>
            </a:solidFill>
            <a:prstDash val="solid"/>
          </a:ln>
          <a:effectLst>
            <a:outerShdw blurRad="76200" dist="25400" dir="5400000" algn="bl" rotWithShape="0">
              <a:srgbClr val="9CB0CC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635240" y="1965960"/>
            <a:ext cx="3520440" cy="685800"/>
          </a:xfrm>
          <a:prstGeom prst="roundRect">
            <a:avLst>
              <a:gd name="adj" fmla="val 9333"/>
            </a:avLst>
          </a:prstGeom>
          <a:solidFill>
            <a:srgbClr val="1B356B"/>
          </a:solidFill>
          <a:ln w="12700">
            <a:solidFill>
              <a:srgbClr val="2A41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635240" y="196596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635240" y="2651760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35240" y="2852928"/>
            <a:ext cx="3520440" cy="685800"/>
          </a:xfrm>
          <a:prstGeom prst="roundRect">
            <a:avLst>
              <a:gd name="adj" fmla="val 9333"/>
            </a:avLst>
          </a:prstGeom>
          <a:solidFill>
            <a:srgbClr val="1B356B"/>
          </a:solidFill>
          <a:ln w="12700">
            <a:solidFill>
              <a:srgbClr val="2A41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635240" y="2852928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Starlette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635240" y="3538728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35240" y="3739896"/>
            <a:ext cx="3520440" cy="685800"/>
          </a:xfrm>
          <a:prstGeom prst="roundRect">
            <a:avLst>
              <a:gd name="adj" fmla="val 9333"/>
            </a:avLst>
          </a:prstGeom>
          <a:solidFill>
            <a:srgbClr val="1B356B"/>
          </a:solidFill>
          <a:ln w="12700">
            <a:solidFill>
              <a:srgbClr val="2A41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635240" y="3739896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 /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84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FUNDAMENTALS  · 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4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3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Pydantic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309360" cy="2103120"/>
          </a:xfrm>
          <a:prstGeom prst="roundRect">
            <a:avLst>
              <a:gd name="adj" fmla="val 3913"/>
            </a:avLst>
          </a:prstGeom>
          <a:solidFill>
            <a:srgbClr val="F4F6FA"/>
          </a:solidFill>
          <a:ln w="12700">
            <a:solidFill>
              <a:srgbClr val="D8E0EC"/>
            </a:solidFill>
            <a:prstDash val="solid"/>
          </a:ln>
          <a:effectLst>
            <a:outerShdw blurRad="76200" dist="25400" dir="5400000" algn="bl" rotWithShape="0">
              <a:srgbClr val="9CB0CC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783080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</a:t>
            </a:r>
            <a:r>
              <a:rPr lang="en-US" sz="1500" dirty="0">
                <a:solidFill>
                  <a:srgbClr val="13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Python library used for data validation and data parsing.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5669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checks whether the data received by the API is in the correct format and type.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840480"/>
            <a:ext cx="6309360" cy="1691640"/>
          </a:xfrm>
          <a:prstGeom prst="roundRect">
            <a:avLst>
              <a:gd name="adj" fmla="val 4324"/>
            </a:avLst>
          </a:prstGeom>
          <a:solidFill>
            <a:srgbClr val="0D1117"/>
          </a:solidFill>
          <a:ln w="12700">
            <a:solidFill>
              <a:srgbClr val="222A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13232" y="3986784"/>
            <a:ext cx="91440" cy="91440"/>
          </a:xfrm>
          <a:prstGeom prst="ellipse">
            <a:avLst/>
          </a:prstGeom>
          <a:solidFill>
            <a:srgbClr val="E052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14400" y="3986784"/>
            <a:ext cx="91440" cy="91440"/>
          </a:xfrm>
          <a:prstGeom prst="ellipse">
            <a:avLst/>
          </a:prstGeom>
          <a:solidFill>
            <a:srgbClr val="E0A2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15568" y="3986784"/>
            <a:ext cx="91440" cy="91440"/>
          </a:xfrm>
          <a:prstGeom prst="ellipse">
            <a:avLst/>
          </a:prstGeom>
          <a:solidFill>
            <a:srgbClr val="17A6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49808" y="4169664"/>
            <a:ext cx="5907024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User(BaseModel):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name: str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age: int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178040" y="1554480"/>
            <a:ext cx="4434840" cy="3977640"/>
          </a:xfrm>
          <a:prstGeom prst="roundRect">
            <a:avLst>
              <a:gd name="adj" fmla="val 2069"/>
            </a:avLst>
          </a:prstGeom>
          <a:solidFill>
            <a:srgbClr val="0B1B3A"/>
          </a:solidFill>
          <a:ln w="12700">
            <a:solidFill>
              <a:srgbClr val="D8E0EC"/>
            </a:solidFill>
            <a:prstDash val="solid"/>
          </a:ln>
          <a:effectLst>
            <a:outerShdw blurRad="76200" dist="25400" dir="5400000" algn="bl" rotWithShape="0">
              <a:srgbClr val="9CB0CC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589520" y="1920240"/>
            <a:ext cx="3611880" cy="658368"/>
          </a:xfrm>
          <a:prstGeom prst="roundRect">
            <a:avLst>
              <a:gd name="adj" fmla="val 9722"/>
            </a:avLst>
          </a:prstGeom>
          <a:solidFill>
            <a:srgbClr val="1B356B"/>
          </a:solidFill>
          <a:ln w="12700">
            <a:solidFill>
              <a:srgbClr val="2A41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589520" y="1920240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Incoming Data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589520" y="2578608"/>
            <a:ext cx="3611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589520" y="2743200"/>
            <a:ext cx="3611880" cy="658368"/>
          </a:xfrm>
          <a:prstGeom prst="roundRect">
            <a:avLst>
              <a:gd name="adj" fmla="val 9722"/>
            </a:avLst>
          </a:prstGeom>
          <a:solidFill>
            <a:srgbClr val="1B356B"/>
          </a:solidFill>
          <a:ln w="12700">
            <a:solidFill>
              <a:srgbClr val="2A41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589520" y="2743200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589520" y="3401568"/>
            <a:ext cx="3611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589520" y="3566160"/>
            <a:ext cx="3611880" cy="658368"/>
          </a:xfrm>
          <a:prstGeom prst="roundRect">
            <a:avLst>
              <a:gd name="adj" fmla="val 9722"/>
            </a:avLst>
          </a:prstGeom>
          <a:solidFill>
            <a:srgbClr val="1B356B"/>
          </a:solidFill>
          <a:ln w="12700">
            <a:solidFill>
              <a:srgbClr val="2A41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589520" y="3566160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589520" y="4224528"/>
            <a:ext cx="3611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589520" y="4389120"/>
            <a:ext cx="3611880" cy="658368"/>
          </a:xfrm>
          <a:prstGeom prst="roundRect">
            <a:avLst>
              <a:gd name="adj" fmla="val 9722"/>
            </a:avLst>
          </a:prstGeom>
          <a:solidFill>
            <a:srgbClr val="1B356B"/>
          </a:solidFill>
          <a:ln w="12700">
            <a:solidFill>
              <a:srgbClr val="2A41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589520" y="4389120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Data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84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FUNDAMENTALS  · 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4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3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 We Use FastAPI?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r>
              <a:rPr lang="en-US" sz="15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used to build APIs and backend applications quickly, efficiently, and easily using Python.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121408" cy="3566160"/>
          </a:xfrm>
          <a:prstGeom prst="roundRect">
            <a:avLst>
              <a:gd name="adj" fmla="val 3879"/>
            </a:avLst>
          </a:prstGeom>
          <a:solidFill>
            <a:srgbClr val="F4F6FA"/>
          </a:solidFill>
          <a:ln w="12700">
            <a:solidFill>
              <a:srgbClr val="D8E0EC"/>
            </a:solidFill>
            <a:prstDash val="solid"/>
          </a:ln>
          <a:effectLst>
            <a:outerShdw blurRad="76200" dist="25400" dir="5400000" algn="bl" rotWithShape="0">
              <a:srgbClr val="9CB0CC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289304" y="2468880"/>
            <a:ext cx="640080" cy="64008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89304" y="24505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0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1820" dirty="0"/>
          </a:p>
        </p:txBody>
      </p:sp>
      <p:sp>
        <p:nvSpPr>
          <p:cNvPr id="8" name="Text 6"/>
          <p:cNvSpPr/>
          <p:nvPr/>
        </p:nvSpPr>
        <p:spPr>
          <a:xfrm>
            <a:off x="658368" y="3383280"/>
            <a:ext cx="190195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Performance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834640" y="2148840"/>
            <a:ext cx="2121408" cy="3566160"/>
          </a:xfrm>
          <a:prstGeom prst="roundRect">
            <a:avLst>
              <a:gd name="adj" fmla="val 3879"/>
            </a:avLst>
          </a:prstGeom>
          <a:solidFill>
            <a:srgbClr val="F4F6FA"/>
          </a:solidFill>
          <a:ln w="12700">
            <a:solidFill>
              <a:srgbClr val="D8E0EC"/>
            </a:solidFill>
            <a:prstDash val="solid"/>
          </a:ln>
          <a:effectLst>
            <a:outerShdw blurRad="76200" dist="25400" dir="5400000" algn="bl" rotWithShape="0">
              <a:srgbClr val="9CB0CC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575304" y="2468880"/>
            <a:ext cx="640080" cy="64008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75304" y="24505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0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🧑</a:t>
            </a:r>
            <a:endParaRPr lang="en-US" sz="1820" dirty="0"/>
          </a:p>
        </p:txBody>
      </p:sp>
      <p:sp>
        <p:nvSpPr>
          <p:cNvPr id="12" name="Text 10"/>
          <p:cNvSpPr/>
          <p:nvPr/>
        </p:nvSpPr>
        <p:spPr>
          <a:xfrm>
            <a:off x="2944368" y="3383280"/>
            <a:ext cx="190195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to Learn &amp; Use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120640" y="2148840"/>
            <a:ext cx="2121408" cy="3566160"/>
          </a:xfrm>
          <a:prstGeom prst="roundRect">
            <a:avLst>
              <a:gd name="adj" fmla="val 3879"/>
            </a:avLst>
          </a:prstGeom>
          <a:solidFill>
            <a:srgbClr val="F4F6FA"/>
          </a:solidFill>
          <a:ln w="12700">
            <a:solidFill>
              <a:srgbClr val="D8E0EC"/>
            </a:solidFill>
            <a:prstDash val="solid"/>
          </a:ln>
          <a:effectLst>
            <a:outerShdw blurRad="76200" dist="25400" dir="5400000" algn="bl" rotWithShape="0">
              <a:srgbClr val="9CB0CC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861304" y="2468880"/>
            <a:ext cx="640080" cy="64008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861304" y="24505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0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820" dirty="0"/>
          </a:p>
        </p:txBody>
      </p:sp>
      <p:sp>
        <p:nvSpPr>
          <p:cNvPr id="16" name="Text 14"/>
          <p:cNvSpPr/>
          <p:nvPr/>
        </p:nvSpPr>
        <p:spPr>
          <a:xfrm>
            <a:off x="5230368" y="3383280"/>
            <a:ext cx="190195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Data Validation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30368" y="4480560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4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Pydantic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406640" y="2148840"/>
            <a:ext cx="2121408" cy="3566160"/>
          </a:xfrm>
          <a:prstGeom prst="roundRect">
            <a:avLst>
              <a:gd name="adj" fmla="val 3879"/>
            </a:avLst>
          </a:prstGeom>
          <a:solidFill>
            <a:srgbClr val="F4F6FA"/>
          </a:solidFill>
          <a:ln w="12700">
            <a:solidFill>
              <a:srgbClr val="D8E0EC"/>
            </a:solidFill>
            <a:prstDash val="solid"/>
          </a:ln>
          <a:effectLst>
            <a:outerShdw blurRad="76200" dist="25400" dir="5400000" algn="bl" rotWithShape="0">
              <a:srgbClr val="9CB0CC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147304" y="2468880"/>
            <a:ext cx="640080" cy="64008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147304" y="24505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0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</a:t>
            </a:r>
            <a:endParaRPr lang="en-US" sz="1820" dirty="0"/>
          </a:p>
        </p:txBody>
      </p:sp>
      <p:sp>
        <p:nvSpPr>
          <p:cNvPr id="21" name="Text 19"/>
          <p:cNvSpPr/>
          <p:nvPr/>
        </p:nvSpPr>
        <p:spPr>
          <a:xfrm>
            <a:off x="7516368" y="3383280"/>
            <a:ext cx="190195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REST API Development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692640" y="2148840"/>
            <a:ext cx="2121408" cy="3566160"/>
          </a:xfrm>
          <a:prstGeom prst="roundRect">
            <a:avLst>
              <a:gd name="adj" fmla="val 3879"/>
            </a:avLst>
          </a:prstGeom>
          <a:solidFill>
            <a:srgbClr val="F4F6FA"/>
          </a:solidFill>
          <a:ln w="12700">
            <a:solidFill>
              <a:srgbClr val="D8E0EC"/>
            </a:solidFill>
            <a:prstDash val="solid"/>
          </a:ln>
          <a:effectLst>
            <a:outerShdw blurRad="76200" dist="25400" dir="5400000" algn="bl" rotWithShape="0">
              <a:srgbClr val="9CB0CC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0433304" y="2468880"/>
            <a:ext cx="640080" cy="64008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433304" y="24505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0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</a:t>
            </a:r>
            <a:endParaRPr lang="en-US" sz="1820" dirty="0"/>
          </a:p>
        </p:txBody>
      </p:sp>
      <p:sp>
        <p:nvSpPr>
          <p:cNvPr id="25" name="Text 23"/>
          <p:cNvSpPr/>
          <p:nvPr/>
        </p:nvSpPr>
        <p:spPr>
          <a:xfrm>
            <a:off x="9802368" y="3383280"/>
            <a:ext cx="190195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Asynchronous Programming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84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FUNDAMENTALS  · 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4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3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Did We Use Before FastAPI?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FastAPI, we commonly used frameworks like Flask and Django to build web applications and APIs.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349240" cy="3566160"/>
          </a:xfrm>
          <a:prstGeom prst="roundRect">
            <a:avLst>
              <a:gd name="adj" fmla="val 2308"/>
            </a:avLst>
          </a:prstGeom>
          <a:solidFill>
            <a:srgbClr val="F4F6FA"/>
          </a:solidFill>
          <a:ln w="12700">
            <a:solidFill>
              <a:srgbClr val="D8E0EC"/>
            </a:solidFill>
            <a:prstDash val="solid"/>
          </a:ln>
          <a:effectLst>
            <a:outerShdw blurRad="76200" dist="25400" dir="5400000" algn="bl" rotWithShape="0">
              <a:srgbClr val="9CB0CC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3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22960" y="3063240"/>
            <a:ext cx="4800600" cy="548640"/>
          </a:xfrm>
          <a:prstGeom prst="roundRect">
            <a:avLst>
              <a:gd name="adj" fmla="val 10000"/>
            </a:avLst>
          </a:prstGeom>
          <a:solidFill>
            <a:srgbClr val="E4F7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0120" y="306324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A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Simple and flexible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384048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4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But: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4160520"/>
            <a:ext cx="4800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features need to be added / configured separately.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63640" y="2217420"/>
            <a:ext cx="5349240" cy="3566160"/>
          </a:xfrm>
          <a:prstGeom prst="roundRect">
            <a:avLst>
              <a:gd name="adj" fmla="val 2308"/>
            </a:avLst>
          </a:prstGeom>
          <a:solidFill>
            <a:srgbClr val="F4F6FA"/>
          </a:solidFill>
          <a:ln w="12700">
            <a:solidFill>
              <a:srgbClr val="D8E0EC"/>
            </a:solidFill>
            <a:prstDash val="solid"/>
          </a:ln>
          <a:effectLst>
            <a:outerShdw blurRad="76200" dist="25400" dir="5400000" algn="bl" rotWithShape="0">
              <a:srgbClr val="9CB0CC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37960" y="242316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3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Django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537960" y="3063240"/>
            <a:ext cx="4800600" cy="548640"/>
          </a:xfrm>
          <a:prstGeom prst="roundRect">
            <a:avLst>
              <a:gd name="adj" fmla="val 10000"/>
            </a:avLst>
          </a:prstGeom>
          <a:solidFill>
            <a:srgbClr val="E4F7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675120" y="306324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A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Powerful and feature-rich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537960" y="384048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4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But: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37960" y="4160520"/>
            <a:ext cx="4800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heavy for small API-focused applications.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84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FUNDAMENTALS  · 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4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3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FastAPI for Modern APIs?</a:t>
            </a:r>
            <a:endParaRPr lang="en-US" sz="3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3730752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Traditional Approach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3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Development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3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setup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72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3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Validation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3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Additional / manual setup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72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Pydantic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3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Documentation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3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Additional setup often needed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72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3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 Support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3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/ traditional approach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72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Built-in support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3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Hints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3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integrated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72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Strongly integrated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84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FUNDAMENTALS  · 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4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3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FastAPI Fast?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is considered fast in two ways: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349240" cy="4114800"/>
          </a:xfrm>
          <a:prstGeom prst="roundRect">
            <a:avLst>
              <a:gd name="adj" fmla="val 2000"/>
            </a:avLst>
          </a:prstGeom>
          <a:solidFill>
            <a:srgbClr val="F4F6FA"/>
          </a:solidFill>
          <a:ln w="12700">
            <a:solidFill>
              <a:srgbClr val="D8E0EC"/>
            </a:solidFill>
            <a:prstDash val="solid"/>
          </a:ln>
          <a:effectLst>
            <a:outerShdw blurRad="76200" dist="25400" dir="5400000" algn="bl" rotWithShape="0">
              <a:srgbClr val="9CB0CC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Fast in Execution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supports asynchronous programming.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efficiently handle multiple requests without blocking while waiting for operations such as database or network requests.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4114800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EAEF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4114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3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1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926080" y="41148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7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──────→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4617720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EAEF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4617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3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2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926080" y="46177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7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──────→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5120640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EAEF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" y="5120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3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3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926080" y="51206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7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──────→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51960" y="4343400"/>
            <a:ext cx="1325880" cy="914400"/>
          </a:xfrm>
          <a:prstGeom prst="roundRect">
            <a:avLst>
              <a:gd name="adj" fmla="val 7000"/>
            </a:avLst>
          </a:prstGeom>
          <a:solidFill>
            <a:srgbClr val="0B1B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251960" y="4343400"/>
            <a:ext cx="1325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1920240"/>
            <a:ext cx="5349240" cy="4114800"/>
          </a:xfrm>
          <a:prstGeom prst="roundRect">
            <a:avLst>
              <a:gd name="adj" fmla="val 2000"/>
            </a:avLst>
          </a:prstGeom>
          <a:solidFill>
            <a:srgbClr val="0B1B3A"/>
          </a:solidFill>
          <a:ln w="12700">
            <a:solidFill>
              <a:srgbClr val="D8E0EC"/>
            </a:solidFill>
            <a:prstDash val="solid"/>
          </a:ln>
          <a:effectLst>
            <a:outerShdw blurRad="76200" dist="25400" dir="5400000" algn="bl" rotWithShape="0">
              <a:srgbClr val="9CB0CC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537960" y="21031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Fast in Development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37960" y="2560320"/>
            <a:ext cx="4846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→ Automatic data validation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API documentation → Swagger UI and ReDoc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hints → Better code clarity and validation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Python features → async / await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boilerplate code → Faster API development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84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FUNDAMENTALS  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4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132A54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194560" y="4937760"/>
            <a:ext cx="4572000" cy="4572000"/>
          </a:xfrm>
          <a:prstGeom prst="ellipse">
            <a:avLst/>
          </a:prstGeom>
          <a:solidFill>
            <a:srgbClr val="132A54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9601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Setup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731520" y="2788920"/>
            <a:ext cx="502920" cy="50292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27706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0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30" dirty="0"/>
          </a:p>
        </p:txBody>
      </p:sp>
      <p:sp>
        <p:nvSpPr>
          <p:cNvPr id="8" name="Text 6"/>
          <p:cNvSpPr/>
          <p:nvPr/>
        </p:nvSpPr>
        <p:spPr>
          <a:xfrm>
            <a:off x="1417320" y="274320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Project Folder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47472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0D1117"/>
          </a:solidFill>
          <a:ln w="12700">
            <a:solidFill>
              <a:srgbClr val="222A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96112" y="3621024"/>
            <a:ext cx="91440" cy="91440"/>
          </a:xfrm>
          <a:prstGeom prst="ellipse">
            <a:avLst/>
          </a:prstGeom>
          <a:solidFill>
            <a:srgbClr val="E052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97280" y="3621024"/>
            <a:ext cx="91440" cy="91440"/>
          </a:xfrm>
          <a:prstGeom prst="ellipse">
            <a:avLst/>
          </a:prstGeom>
          <a:solidFill>
            <a:srgbClr val="E0A2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298448" y="3621024"/>
            <a:ext cx="91440" cy="91440"/>
          </a:xfrm>
          <a:prstGeom prst="ellipse">
            <a:avLst/>
          </a:prstGeom>
          <a:solidFill>
            <a:srgbClr val="17A6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32688" y="3803904"/>
            <a:ext cx="311810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fastapi-project/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2788920"/>
            <a:ext cx="502920" cy="50292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0" y="27706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0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30" dirty="0"/>
          </a:p>
        </p:txBody>
      </p:sp>
      <p:sp>
        <p:nvSpPr>
          <p:cNvPr id="16" name="Text 14"/>
          <p:cNvSpPr/>
          <p:nvPr/>
        </p:nvSpPr>
        <p:spPr>
          <a:xfrm>
            <a:off x="5257800" y="274320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Virtual Environment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0" y="347472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0D1117"/>
          </a:solidFill>
          <a:ln w="12700">
            <a:solidFill>
              <a:srgbClr val="222A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36592" y="3621024"/>
            <a:ext cx="91440" cy="91440"/>
          </a:xfrm>
          <a:prstGeom prst="ellipse">
            <a:avLst/>
          </a:prstGeom>
          <a:solidFill>
            <a:srgbClr val="E052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937760" y="3621024"/>
            <a:ext cx="91440" cy="91440"/>
          </a:xfrm>
          <a:prstGeom prst="ellipse">
            <a:avLst/>
          </a:prstGeom>
          <a:solidFill>
            <a:srgbClr val="E0A2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138928" y="3621024"/>
            <a:ext cx="91440" cy="91440"/>
          </a:xfrm>
          <a:prstGeom prst="ellipse">
            <a:avLst/>
          </a:prstGeom>
          <a:solidFill>
            <a:srgbClr val="17A6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73168" y="3803904"/>
            <a:ext cx="311810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venv venv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412480" y="2788920"/>
            <a:ext cx="502920" cy="50292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412480" y="27706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0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30" dirty="0"/>
          </a:p>
        </p:txBody>
      </p:sp>
      <p:sp>
        <p:nvSpPr>
          <p:cNvPr id="24" name="Text 22"/>
          <p:cNvSpPr/>
          <p:nvPr/>
        </p:nvSpPr>
        <p:spPr>
          <a:xfrm>
            <a:off x="9098280" y="274320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Activate Virtual Environment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412480" y="335584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F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412480" y="370332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0D1117"/>
          </a:solidFill>
          <a:ln w="12700">
            <a:solidFill>
              <a:srgbClr val="222A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577072" y="3849624"/>
            <a:ext cx="91440" cy="91440"/>
          </a:xfrm>
          <a:prstGeom prst="ellipse">
            <a:avLst/>
          </a:prstGeom>
          <a:solidFill>
            <a:srgbClr val="E052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778240" y="3849624"/>
            <a:ext cx="91440" cy="91440"/>
          </a:xfrm>
          <a:prstGeom prst="ellipse">
            <a:avLst/>
          </a:prstGeom>
          <a:solidFill>
            <a:srgbClr val="E0A2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979408" y="3849624"/>
            <a:ext cx="91440" cy="91440"/>
          </a:xfrm>
          <a:prstGeom prst="ellipse">
            <a:avLst/>
          </a:prstGeom>
          <a:solidFill>
            <a:srgbClr val="17A6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613648" y="4032504"/>
            <a:ext cx="311810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venv\Scripts\activate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FUNDAMENTALS  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3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FastAPI and Uvicorn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49240" cy="822960"/>
          </a:xfrm>
          <a:prstGeom prst="roundRect">
            <a:avLst>
              <a:gd name="adj" fmla="val 8889"/>
            </a:avLst>
          </a:prstGeom>
          <a:solidFill>
            <a:srgbClr val="0D1117"/>
          </a:solidFill>
          <a:ln w="12700">
            <a:solidFill>
              <a:srgbClr val="222A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13232" y="1929384"/>
            <a:ext cx="91440" cy="91440"/>
          </a:xfrm>
          <a:prstGeom prst="ellipse">
            <a:avLst/>
          </a:prstGeom>
          <a:solidFill>
            <a:srgbClr val="E052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1929384"/>
            <a:ext cx="91440" cy="91440"/>
          </a:xfrm>
          <a:prstGeom prst="ellipse">
            <a:avLst/>
          </a:prstGeom>
          <a:solidFill>
            <a:srgbClr val="E0A2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15568" y="1929384"/>
            <a:ext cx="91440" cy="91440"/>
          </a:xfrm>
          <a:prstGeom prst="ellipse">
            <a:avLst/>
          </a:prstGeom>
          <a:solidFill>
            <a:srgbClr val="17A6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49808" y="2112264"/>
            <a:ext cx="494690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fastapi uvicorn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2788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main.py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5349240" cy="2834640"/>
          </a:xfrm>
          <a:prstGeom prst="roundRect">
            <a:avLst>
              <a:gd name="adj" fmla="val 2581"/>
            </a:avLst>
          </a:prstGeom>
          <a:solidFill>
            <a:srgbClr val="0D1117"/>
          </a:solidFill>
          <a:ln w="12700">
            <a:solidFill>
              <a:srgbClr val="222A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13232" y="3346704"/>
            <a:ext cx="91440" cy="91440"/>
          </a:xfrm>
          <a:prstGeom prst="ellipse">
            <a:avLst/>
          </a:prstGeom>
          <a:solidFill>
            <a:srgbClr val="E052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14400" y="3346704"/>
            <a:ext cx="91440" cy="91440"/>
          </a:xfrm>
          <a:prstGeom prst="ellipse">
            <a:avLst/>
          </a:prstGeom>
          <a:solidFill>
            <a:srgbClr val="E0A2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115568" y="3346704"/>
            <a:ext cx="91440" cy="91440"/>
          </a:xfrm>
          <a:prstGeom prst="ellipse">
            <a:avLst/>
          </a:prstGeom>
          <a:solidFill>
            <a:srgbClr val="17A6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49808" y="3529584"/>
            <a:ext cx="4946904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fastapi import FastAPI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= FastAPI()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0A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@app.get("/")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home():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{"message": "Hello FastAPI"}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63640" y="1463040"/>
            <a:ext cx="5349240" cy="4572000"/>
          </a:xfrm>
          <a:prstGeom prst="roundRect">
            <a:avLst>
              <a:gd name="adj" fmla="val 1800"/>
            </a:avLst>
          </a:prstGeom>
          <a:solidFill>
            <a:srgbClr val="0B1B3A"/>
          </a:solidFill>
          <a:ln w="12700">
            <a:solidFill>
              <a:srgbClr val="D8E0EC"/>
            </a:solidFill>
            <a:prstDash val="solid"/>
          </a:ln>
          <a:effectLst>
            <a:outerShdw blurRad="76200" dist="25400" dir="5400000" algn="bl" rotWithShape="0">
              <a:srgbClr val="9CB0CC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63640" y="169164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main.py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360920" y="2286000"/>
            <a:ext cx="3154680" cy="594360"/>
          </a:xfrm>
          <a:prstGeom prst="roundRect">
            <a:avLst>
              <a:gd name="adj" fmla="val 10769"/>
            </a:avLst>
          </a:prstGeom>
          <a:solidFill>
            <a:srgbClr val="1B356B"/>
          </a:solidFill>
          <a:ln w="12700">
            <a:solidFill>
              <a:srgbClr val="2A41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60920" y="228600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import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360920" y="2880360"/>
            <a:ext cx="3154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360920" y="3026664"/>
            <a:ext cx="3154680" cy="594360"/>
          </a:xfrm>
          <a:prstGeom prst="roundRect">
            <a:avLst>
              <a:gd name="adj" fmla="val 10769"/>
            </a:avLst>
          </a:prstGeom>
          <a:solidFill>
            <a:srgbClr val="1B356B"/>
          </a:solidFill>
          <a:ln w="12700">
            <a:solidFill>
              <a:srgbClr val="2A41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60920" y="3026664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= FastAPI()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360920" y="3621024"/>
            <a:ext cx="3154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360920" y="3767328"/>
            <a:ext cx="3154680" cy="594360"/>
          </a:xfrm>
          <a:prstGeom prst="roundRect">
            <a:avLst>
              <a:gd name="adj" fmla="val 10769"/>
            </a:avLst>
          </a:prstGeom>
          <a:solidFill>
            <a:srgbClr val="1B356B"/>
          </a:solidFill>
          <a:ln w="12700">
            <a:solidFill>
              <a:srgbClr val="2A41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360920" y="3767328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@app.get("/")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360920" y="4361688"/>
            <a:ext cx="3154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360920" y="4507992"/>
            <a:ext cx="3154680" cy="594360"/>
          </a:xfrm>
          <a:prstGeom prst="roundRect">
            <a:avLst>
              <a:gd name="adj" fmla="val 10769"/>
            </a:avLst>
          </a:prstGeom>
          <a:solidFill>
            <a:srgbClr val="1B356B"/>
          </a:solidFill>
          <a:ln w="12700">
            <a:solidFill>
              <a:srgbClr val="2A41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360920" y="4507992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response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84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FUNDAMENTALS  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4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3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FastAPI Server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0D1117"/>
          </a:solidFill>
          <a:ln w="12700">
            <a:solidFill>
              <a:srgbClr val="222A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13232" y="1700784"/>
            <a:ext cx="91440" cy="91440"/>
          </a:xfrm>
          <a:prstGeom prst="ellipse">
            <a:avLst/>
          </a:prstGeom>
          <a:solidFill>
            <a:srgbClr val="E052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1700784"/>
            <a:ext cx="91440" cy="91440"/>
          </a:xfrm>
          <a:prstGeom prst="ellipse">
            <a:avLst/>
          </a:prstGeom>
          <a:solidFill>
            <a:srgbClr val="E0A2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15568" y="1700784"/>
            <a:ext cx="91440" cy="91440"/>
          </a:xfrm>
          <a:prstGeom prst="ellipse">
            <a:avLst/>
          </a:prstGeom>
          <a:solidFill>
            <a:srgbClr val="17A6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9808" y="1883664"/>
            <a:ext cx="1066190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uvicorn main:app --reload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D8E0EC"/>
            </a:solidFill>
            <a:prstDash val="solid"/>
          </a:ln>
          <a:effectLst>
            <a:outerShdw blurRad="76200" dist="25400" dir="5400000" algn="bl" rotWithShape="0">
              <a:srgbClr val="9CB0CC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27889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7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32004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file (main.py)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297680" y="265176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D8E0EC"/>
            </a:solidFill>
            <a:prstDash val="solid"/>
          </a:ln>
          <a:effectLst>
            <a:outerShdw blurRad="76200" dist="25400" dir="5400000" algn="bl" rotWithShape="0">
              <a:srgbClr val="9CB0CC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480560" y="27889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7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480560" y="32004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application object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46720" y="265176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D8E0EC"/>
            </a:solidFill>
            <a:prstDash val="solid"/>
          </a:ln>
          <a:effectLst>
            <a:outerShdw blurRad="76200" dist="25400" dir="5400000" algn="bl" rotWithShape="0">
              <a:srgbClr val="9CB0CC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0" y="27889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7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--reload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0" y="32004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reloads during development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194560" y="4343400"/>
            <a:ext cx="7772400" cy="1691640"/>
          </a:xfrm>
          <a:prstGeom prst="roundRect">
            <a:avLst>
              <a:gd name="adj" fmla="val 4865"/>
            </a:avLst>
          </a:prstGeom>
          <a:solidFill>
            <a:srgbClr val="0B1B3A"/>
          </a:solidFill>
          <a:ln w="12700">
            <a:solidFill>
              <a:srgbClr val="D8E0EC"/>
            </a:solidFill>
            <a:prstDash val="solid"/>
          </a:ln>
          <a:effectLst>
            <a:outerShdw blurRad="76200" dist="25400" dir="5400000" algn="bl" rotWithShape="0">
              <a:srgbClr val="9CB0CC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468880" y="4709160"/>
            <a:ext cx="2042160" cy="822960"/>
          </a:xfrm>
          <a:prstGeom prst="roundRect">
            <a:avLst>
              <a:gd name="adj" fmla="val 7778"/>
            </a:avLst>
          </a:prstGeom>
          <a:solidFill>
            <a:srgbClr val="1B356B"/>
          </a:solidFill>
          <a:ln w="12700">
            <a:solidFill>
              <a:srgbClr val="2A41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468880" y="4709160"/>
            <a:ext cx="2042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11040" y="4709160"/>
            <a:ext cx="2926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767072" y="4709160"/>
            <a:ext cx="2042160" cy="822960"/>
          </a:xfrm>
          <a:prstGeom prst="roundRect">
            <a:avLst>
              <a:gd name="adj" fmla="val 7778"/>
            </a:avLst>
          </a:prstGeom>
          <a:solidFill>
            <a:srgbClr val="1B356B"/>
          </a:solidFill>
          <a:ln w="12700">
            <a:solidFill>
              <a:srgbClr val="2A41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67072" y="4709160"/>
            <a:ext cx="2042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http://127.0.0.1:8000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09232" y="4709160"/>
            <a:ext cx="2926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065264" y="4709160"/>
            <a:ext cx="2042160" cy="822960"/>
          </a:xfrm>
          <a:prstGeom prst="roundRect">
            <a:avLst>
              <a:gd name="adj" fmla="val 7778"/>
            </a:avLst>
          </a:prstGeom>
          <a:solidFill>
            <a:srgbClr val="1B356B"/>
          </a:solidFill>
          <a:ln w="12700">
            <a:solidFill>
              <a:srgbClr val="2A41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065264" y="4709160"/>
            <a:ext cx="2042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Application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84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FUNDAMENTALS  · 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4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3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API Documentation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r>
              <a:rPr lang="en-US" sz="15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automatically provides interactive API documentation using </a:t>
            </a:r>
            <a:r>
              <a:rPr lang="en-US" sz="1550" b="1" dirty="0">
                <a:solidFill>
                  <a:srgbClr val="13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</a:t>
            </a:r>
            <a:r>
              <a:rPr lang="en-US" sz="15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It also provides </a:t>
            </a:r>
            <a:r>
              <a:rPr lang="en-US" sz="1550" b="1" dirty="0">
                <a:solidFill>
                  <a:srgbClr val="13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ReDoc</a:t>
            </a:r>
            <a:r>
              <a:rPr lang="en-US" sz="15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5349240" cy="2651760"/>
          </a:xfrm>
          <a:prstGeom prst="roundRect">
            <a:avLst>
              <a:gd name="adj" fmla="val 3103"/>
            </a:avLst>
          </a:prstGeom>
          <a:solidFill>
            <a:srgbClr val="0B1B3A"/>
          </a:solidFill>
          <a:ln w="12700">
            <a:solidFill>
              <a:srgbClr val="D8E0EC"/>
            </a:solidFill>
            <a:prstDash val="solid"/>
          </a:ln>
          <a:effectLst>
            <a:outerShdw blurRad="76200" dist="25400" dir="5400000" algn="bl" rotWithShape="0">
              <a:srgbClr val="9CB0CC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Swagger UI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22960" y="3383280"/>
            <a:ext cx="4800600" cy="822960"/>
          </a:xfrm>
          <a:prstGeom prst="roundRect">
            <a:avLst>
              <a:gd name="adj" fmla="val 8889"/>
            </a:avLst>
          </a:prstGeom>
          <a:solidFill>
            <a:srgbClr val="0D1117"/>
          </a:solidFill>
          <a:ln w="12700">
            <a:solidFill>
              <a:srgbClr val="222A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87552" y="3529584"/>
            <a:ext cx="91440" cy="91440"/>
          </a:xfrm>
          <a:prstGeom prst="ellipse">
            <a:avLst/>
          </a:prstGeom>
          <a:solidFill>
            <a:srgbClr val="E052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88720" y="3529584"/>
            <a:ext cx="91440" cy="91440"/>
          </a:xfrm>
          <a:prstGeom prst="ellipse">
            <a:avLst/>
          </a:prstGeom>
          <a:solidFill>
            <a:srgbClr val="E0A2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389888" y="3529584"/>
            <a:ext cx="91440" cy="91440"/>
          </a:xfrm>
          <a:prstGeom prst="ellipse">
            <a:avLst/>
          </a:prstGeom>
          <a:solidFill>
            <a:srgbClr val="17A6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24128" y="3712464"/>
            <a:ext cx="439826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http://127.0.0.1:8000/docs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434340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F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· try requests live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2377440"/>
            <a:ext cx="5349240" cy="2651760"/>
          </a:xfrm>
          <a:prstGeom prst="roundRect">
            <a:avLst>
              <a:gd name="adj" fmla="val 3103"/>
            </a:avLst>
          </a:prstGeom>
          <a:solidFill>
            <a:srgbClr val="F4F6FA"/>
          </a:solidFill>
          <a:ln w="12700">
            <a:solidFill>
              <a:srgbClr val="D8E0EC"/>
            </a:solidFill>
            <a:prstDash val="solid"/>
          </a:ln>
          <a:effectLst>
            <a:outerShdw blurRad="76200" dist="25400" dir="5400000" algn="bl" rotWithShape="0">
              <a:srgbClr val="9CB0CC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37960" y="2697480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3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ReDoc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537960" y="3383280"/>
            <a:ext cx="4800600" cy="822960"/>
          </a:xfrm>
          <a:prstGeom prst="roundRect">
            <a:avLst>
              <a:gd name="adj" fmla="val 8889"/>
            </a:avLst>
          </a:prstGeom>
          <a:solidFill>
            <a:srgbClr val="0D1117"/>
          </a:solidFill>
          <a:ln w="12700">
            <a:solidFill>
              <a:srgbClr val="222A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702552" y="3529584"/>
            <a:ext cx="91440" cy="91440"/>
          </a:xfrm>
          <a:prstGeom prst="ellipse">
            <a:avLst/>
          </a:prstGeom>
          <a:solidFill>
            <a:srgbClr val="E052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903720" y="3529584"/>
            <a:ext cx="91440" cy="91440"/>
          </a:xfrm>
          <a:prstGeom prst="ellipse">
            <a:avLst/>
          </a:prstGeom>
          <a:solidFill>
            <a:srgbClr val="E0A2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104888" y="3529584"/>
            <a:ext cx="91440" cy="91440"/>
          </a:xfrm>
          <a:prstGeom prst="ellipse">
            <a:avLst/>
          </a:prstGeom>
          <a:solidFill>
            <a:srgbClr val="17A6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739128" y="3712464"/>
            <a:ext cx="439826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http://127.0.0.1:8000/redoc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37960" y="434340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4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readable reference docs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84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FUNDAMENTALS  · 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4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132A54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194560" y="4937760"/>
            <a:ext cx="4572000" cy="4572000"/>
          </a:xfrm>
          <a:prstGeom prst="ellipse">
            <a:avLst/>
          </a:prstGeom>
          <a:solidFill>
            <a:srgbClr val="132A54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TOOLS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9601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Postman?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65836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is an API testing tool used to send requests to APIs and check their responses.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allows developers to test GET, POST, PUT, and DELETE requests without needing a frontend application.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4434840"/>
            <a:ext cx="1828800" cy="594360"/>
          </a:xfrm>
          <a:prstGeom prst="roundRect">
            <a:avLst>
              <a:gd name="adj" fmla="val 10769"/>
            </a:avLst>
          </a:prstGeom>
          <a:solidFill>
            <a:srgbClr val="1B356B"/>
          </a:solidFill>
          <a:ln w="12700">
            <a:solidFill>
              <a:srgbClr val="2A41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44348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560320" y="4434840"/>
            <a:ext cx="2926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816352" y="4434840"/>
            <a:ext cx="1828800" cy="594360"/>
          </a:xfrm>
          <a:prstGeom prst="roundRect">
            <a:avLst>
              <a:gd name="adj" fmla="val 10769"/>
            </a:avLst>
          </a:prstGeom>
          <a:solidFill>
            <a:srgbClr val="1B356B"/>
          </a:solidFill>
          <a:ln w="12700">
            <a:solidFill>
              <a:srgbClr val="2A41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816352" y="44348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Request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45152" y="4434840"/>
            <a:ext cx="2926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901184" y="4434840"/>
            <a:ext cx="1828800" cy="594360"/>
          </a:xfrm>
          <a:prstGeom prst="roundRect">
            <a:avLst>
              <a:gd name="adj" fmla="val 10769"/>
            </a:avLst>
          </a:prstGeom>
          <a:solidFill>
            <a:srgbClr val="1B356B"/>
          </a:solidFill>
          <a:ln w="12700">
            <a:solidFill>
              <a:srgbClr val="2A41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01184" y="44348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516636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sends the response back to Postman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FUNDAMENTALS  · 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APIS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3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APIs with Postman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6040" cy="3291840"/>
          </a:xfrm>
          <a:prstGeom prst="roundRect">
            <a:avLst>
              <a:gd name="adj" fmla="val 3158"/>
            </a:avLst>
          </a:prstGeom>
          <a:solidFill>
            <a:srgbClr val="F4F6FA"/>
          </a:solidFill>
          <a:ln w="12700">
            <a:solidFill>
              <a:srgbClr val="D8E0EC"/>
            </a:solidFill>
            <a:prstDash val="solid"/>
          </a:ln>
          <a:effectLst>
            <a:outerShdw blurRad="76200" dist="25400" dir="5400000" algn="bl" rotWithShape="0">
              <a:srgbClr val="9CB0CC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2103120"/>
            <a:ext cx="1965960" cy="685800"/>
          </a:xfrm>
          <a:prstGeom prst="roundRect">
            <a:avLst>
              <a:gd name="adj" fmla="val 10667"/>
            </a:avLst>
          </a:prstGeom>
          <a:solidFill>
            <a:srgbClr val="1E8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210312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1089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3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data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383280" y="1737360"/>
            <a:ext cx="2606040" cy="3291840"/>
          </a:xfrm>
          <a:prstGeom prst="roundRect">
            <a:avLst>
              <a:gd name="adj" fmla="val 3158"/>
            </a:avLst>
          </a:prstGeom>
          <a:solidFill>
            <a:srgbClr val="F4F6FA"/>
          </a:solidFill>
          <a:ln w="12700">
            <a:solidFill>
              <a:srgbClr val="D8E0EC"/>
            </a:solidFill>
            <a:prstDash val="solid"/>
          </a:ln>
          <a:effectLst>
            <a:outerShdw blurRad="76200" dist="25400" dir="5400000" algn="bl" rotWithShape="0">
              <a:srgbClr val="9CB0CC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703320" y="2103120"/>
            <a:ext cx="1965960" cy="685800"/>
          </a:xfrm>
          <a:prstGeom prst="roundRect">
            <a:avLst>
              <a:gd name="adj" fmla="val 10667"/>
            </a:avLst>
          </a:prstGeom>
          <a:solidFill>
            <a:srgbClr val="1F9D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703320" y="210312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383280" y="31089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3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data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17920" y="1737360"/>
            <a:ext cx="2606040" cy="3291840"/>
          </a:xfrm>
          <a:prstGeom prst="roundRect">
            <a:avLst>
              <a:gd name="adj" fmla="val 3158"/>
            </a:avLst>
          </a:prstGeom>
          <a:solidFill>
            <a:srgbClr val="F4F6FA"/>
          </a:solidFill>
          <a:ln w="12700">
            <a:solidFill>
              <a:srgbClr val="D8E0EC"/>
            </a:solidFill>
            <a:prstDash val="solid"/>
          </a:ln>
          <a:effectLst>
            <a:outerShdw blurRad="76200" dist="25400" dir="5400000" algn="bl" rotWithShape="0">
              <a:srgbClr val="9CB0CC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537960" y="2103120"/>
            <a:ext cx="1965960" cy="685800"/>
          </a:xfrm>
          <a:prstGeom prst="roundRect">
            <a:avLst>
              <a:gd name="adj" fmla="val 10667"/>
            </a:avLst>
          </a:prstGeom>
          <a:solidFill>
            <a:srgbClr val="C68A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37960" y="210312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17920" y="31089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3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data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052560" y="1737360"/>
            <a:ext cx="2606040" cy="3291840"/>
          </a:xfrm>
          <a:prstGeom prst="roundRect">
            <a:avLst>
              <a:gd name="adj" fmla="val 3158"/>
            </a:avLst>
          </a:prstGeom>
          <a:solidFill>
            <a:srgbClr val="F4F6FA"/>
          </a:solidFill>
          <a:ln w="12700">
            <a:solidFill>
              <a:srgbClr val="D8E0EC"/>
            </a:solidFill>
            <a:prstDash val="solid"/>
          </a:ln>
          <a:effectLst>
            <a:outerShdw blurRad="76200" dist="25400" dir="5400000" algn="bl" rotWithShape="0">
              <a:srgbClr val="9CB0CC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372600" y="2103120"/>
            <a:ext cx="1965960" cy="685800"/>
          </a:xfrm>
          <a:prstGeom prst="roundRect">
            <a:avLst>
              <a:gd name="adj" fmla="val 10667"/>
            </a:avLst>
          </a:prstGeom>
          <a:solidFill>
            <a:srgbClr val="D249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372600" y="210312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052560" y="31089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3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data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525780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EAEFF6"/>
          </a:solidFill>
          <a:ln w="12700">
            <a:solidFill>
              <a:srgbClr val="D8E0EC"/>
            </a:solidFill>
            <a:prstDash val="solid"/>
          </a:ln>
          <a:effectLst>
            <a:outerShdw blurRad="76200" dist="25400" dir="5400000" algn="bl" rotWithShape="0">
              <a:srgbClr val="9CB0CC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14400" y="5440680"/>
            <a:ext cx="3078480" cy="457200"/>
          </a:xfrm>
          <a:prstGeom prst="roundRect">
            <a:avLst>
              <a:gd name="adj" fmla="val 14000"/>
            </a:avLst>
          </a:prstGeom>
          <a:solidFill>
            <a:srgbClr val="EAEFF6"/>
          </a:solidFill>
          <a:ln w="12700">
            <a:solidFill>
              <a:srgbClr val="D8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14400" y="5440680"/>
            <a:ext cx="307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992880" y="544068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248912" y="5440680"/>
            <a:ext cx="3078480" cy="457200"/>
          </a:xfrm>
          <a:prstGeom prst="roundRect">
            <a:avLst>
              <a:gd name="adj" fmla="val 14000"/>
            </a:avLst>
          </a:prstGeom>
          <a:solidFill>
            <a:srgbClr val="EAEFF6"/>
          </a:solidFill>
          <a:ln w="12700">
            <a:solidFill>
              <a:srgbClr val="D8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248912" y="5440680"/>
            <a:ext cx="307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327392" y="544068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583424" y="5440680"/>
            <a:ext cx="3078480" cy="457200"/>
          </a:xfrm>
          <a:prstGeom prst="roundRect">
            <a:avLst>
              <a:gd name="adj" fmla="val 14000"/>
            </a:avLst>
          </a:prstGeom>
          <a:solidFill>
            <a:srgbClr val="EAEFF6"/>
          </a:solidFill>
          <a:ln w="12700">
            <a:solidFill>
              <a:srgbClr val="D8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583424" y="5440680"/>
            <a:ext cx="307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84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FUNDAMENTALS  · 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4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132A54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194560" y="4937760"/>
            <a:ext cx="4572000" cy="4572000"/>
          </a:xfrm>
          <a:prstGeom prst="ellipse">
            <a:avLst/>
          </a:prstGeom>
          <a:solidFill>
            <a:srgbClr val="132A54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Status Codes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7D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status codes are three-digit codes sent by the server to indicate the result of a client's request.</a:t>
            </a:r>
            <a:endParaRPr lang="en-US" sz="145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7406640" cy="3803904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B1B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Code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B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B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successful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data successfully created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400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Bad Request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Invalid request / data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401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Unauthorized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Authentication required / invalid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403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Forbidden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denied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404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Found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Requested resource not found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500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Server Error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Server-side error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229600" y="2148840"/>
            <a:ext cx="3383280" cy="1005840"/>
          </a:xfrm>
          <a:prstGeom prst="roundRect">
            <a:avLst>
              <a:gd name="adj" fmla="val 7273"/>
            </a:avLst>
          </a:prstGeom>
          <a:solidFill>
            <a:srgbClr val="1B356B"/>
          </a:solidFill>
          <a:ln w="12700">
            <a:solidFill>
              <a:srgbClr val="2A41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458200" y="228600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2xx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9601200" y="214884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229600" y="3383280"/>
            <a:ext cx="3383280" cy="1005840"/>
          </a:xfrm>
          <a:prstGeom prst="roundRect">
            <a:avLst>
              <a:gd name="adj" fmla="val 7273"/>
            </a:avLst>
          </a:prstGeom>
          <a:solidFill>
            <a:srgbClr val="1B356B"/>
          </a:solidFill>
          <a:ln w="12700">
            <a:solidFill>
              <a:srgbClr val="2A41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458200" y="352044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A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4xx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9601200" y="338328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Error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229600" y="4617720"/>
            <a:ext cx="3383280" cy="1005840"/>
          </a:xfrm>
          <a:prstGeom prst="roundRect">
            <a:avLst>
              <a:gd name="adj" fmla="val 7273"/>
            </a:avLst>
          </a:prstGeom>
          <a:solidFill>
            <a:srgbClr val="1B356B"/>
          </a:solidFill>
          <a:ln w="12700">
            <a:solidFill>
              <a:srgbClr val="2A41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458200" y="475488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5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5xx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9601200" y="461772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Error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FUNDAMENTALS  ·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132A54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194560" y="4937760"/>
            <a:ext cx="4572000" cy="4572000"/>
          </a:xfrm>
          <a:prstGeom prst="ellipse">
            <a:avLst/>
          </a:prstGeom>
          <a:solidFill>
            <a:srgbClr val="132A54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Frontend to FastAPI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22960" y="1508760"/>
            <a:ext cx="2834640" cy="566928"/>
          </a:xfrm>
          <a:prstGeom prst="roundRect">
            <a:avLst>
              <a:gd name="adj" fmla="val 11290"/>
            </a:avLst>
          </a:prstGeom>
          <a:solidFill>
            <a:srgbClr val="1B356B"/>
          </a:solidFill>
          <a:ln w="12700">
            <a:solidFill>
              <a:srgbClr val="2A41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50876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2075688"/>
            <a:ext cx="2834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2212848"/>
            <a:ext cx="2834640" cy="566928"/>
          </a:xfrm>
          <a:prstGeom prst="roundRect">
            <a:avLst>
              <a:gd name="adj" fmla="val 11290"/>
            </a:avLst>
          </a:prstGeom>
          <a:solidFill>
            <a:srgbClr val="1B356B"/>
          </a:solidFill>
          <a:ln w="12700">
            <a:solidFill>
              <a:srgbClr val="2A41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2212848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2779776"/>
            <a:ext cx="2834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2916936"/>
            <a:ext cx="2834640" cy="566928"/>
          </a:xfrm>
          <a:prstGeom prst="roundRect">
            <a:avLst>
              <a:gd name="adj" fmla="val 11290"/>
            </a:avLst>
          </a:prstGeom>
          <a:solidFill>
            <a:srgbClr val="1B356B"/>
          </a:solidFill>
          <a:ln w="12700">
            <a:solidFill>
              <a:srgbClr val="2A41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2916936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3483864"/>
            <a:ext cx="2834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2960" y="3621024"/>
            <a:ext cx="2834640" cy="566928"/>
          </a:xfrm>
          <a:prstGeom prst="roundRect">
            <a:avLst>
              <a:gd name="adj" fmla="val 11290"/>
            </a:avLst>
          </a:prstGeom>
          <a:solidFill>
            <a:srgbClr val="1B356B"/>
          </a:solidFill>
          <a:ln w="12700">
            <a:solidFill>
              <a:srgbClr val="2A41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" y="3621024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2960" y="4187952"/>
            <a:ext cx="2834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2960" y="4325112"/>
            <a:ext cx="2834640" cy="566928"/>
          </a:xfrm>
          <a:prstGeom prst="roundRect">
            <a:avLst>
              <a:gd name="adj" fmla="val 11290"/>
            </a:avLst>
          </a:prstGeom>
          <a:solidFill>
            <a:srgbClr val="1B356B"/>
          </a:solidFill>
          <a:ln w="12700">
            <a:solidFill>
              <a:srgbClr val="2A41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22960" y="4325112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023360" y="3968496"/>
            <a:ext cx="2834640" cy="566928"/>
          </a:xfrm>
          <a:prstGeom prst="roundRect">
            <a:avLst>
              <a:gd name="adj" fmla="val 11290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023360" y="3968496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CORE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657600" y="3968496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023360" y="4663440"/>
            <a:ext cx="1325880" cy="1371600"/>
          </a:xfrm>
          <a:prstGeom prst="roundRect">
            <a:avLst>
              <a:gd name="adj" fmla="val 6207"/>
            </a:avLst>
          </a:prstGeom>
          <a:solidFill>
            <a:srgbClr val="1B356B"/>
          </a:solidFill>
          <a:ln w="12700">
            <a:solidFill>
              <a:srgbClr val="D8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023360" y="4663440"/>
            <a:ext cx="1325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Starlette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HTTP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532120" y="4663440"/>
            <a:ext cx="1325880" cy="1371600"/>
          </a:xfrm>
          <a:prstGeom prst="roundRect">
            <a:avLst>
              <a:gd name="adj" fmla="val 6207"/>
            </a:avLst>
          </a:prstGeom>
          <a:solidFill>
            <a:srgbClr val="1B356B"/>
          </a:solidFill>
          <a:ln w="12700">
            <a:solidFill>
              <a:srgbClr val="D8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532120" y="4663440"/>
            <a:ext cx="1325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503920" y="1508760"/>
            <a:ext cx="2834640" cy="566928"/>
          </a:xfrm>
          <a:prstGeom prst="roundRect">
            <a:avLst>
              <a:gd name="adj" fmla="val 11290"/>
            </a:avLst>
          </a:prstGeom>
          <a:solidFill>
            <a:srgbClr val="1B356B"/>
          </a:solidFill>
          <a:ln w="12700">
            <a:solidFill>
              <a:srgbClr val="2A41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503920" y="150876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503920" y="2075688"/>
            <a:ext cx="2834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503920" y="2212848"/>
            <a:ext cx="2834640" cy="566928"/>
          </a:xfrm>
          <a:prstGeom prst="roundRect">
            <a:avLst>
              <a:gd name="adj" fmla="val 11290"/>
            </a:avLst>
          </a:prstGeom>
          <a:solidFill>
            <a:srgbClr val="1B356B"/>
          </a:solidFill>
          <a:ln w="12700">
            <a:solidFill>
              <a:srgbClr val="2A41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503920" y="2212848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503920" y="2779776"/>
            <a:ext cx="2834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503920" y="2916936"/>
            <a:ext cx="2834640" cy="566928"/>
          </a:xfrm>
          <a:prstGeom prst="roundRect">
            <a:avLst>
              <a:gd name="adj" fmla="val 11290"/>
            </a:avLst>
          </a:prstGeom>
          <a:solidFill>
            <a:srgbClr val="1B356B"/>
          </a:solidFill>
          <a:ln w="12700">
            <a:solidFill>
              <a:srgbClr val="2A41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503920" y="2916936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RESPONSE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503920" y="3483864"/>
            <a:ext cx="2834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503920" y="3621024"/>
            <a:ext cx="2834640" cy="566928"/>
          </a:xfrm>
          <a:prstGeom prst="roundRect">
            <a:avLst>
              <a:gd name="adj" fmla="val 11290"/>
            </a:avLst>
          </a:prstGeom>
          <a:solidFill>
            <a:srgbClr val="1B356B"/>
          </a:solidFill>
          <a:ln w="12700">
            <a:solidFill>
              <a:srgbClr val="2A41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503920" y="3621024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8503920" y="4187952"/>
            <a:ext cx="2834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503920" y="4325112"/>
            <a:ext cx="2834640" cy="566928"/>
          </a:xfrm>
          <a:prstGeom prst="roundRect">
            <a:avLst>
              <a:gd name="adj" fmla="val 11290"/>
            </a:avLst>
          </a:prstGeom>
          <a:solidFill>
            <a:srgbClr val="1B356B"/>
          </a:solidFill>
          <a:ln w="12700">
            <a:solidFill>
              <a:srgbClr val="2A41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503920" y="4325112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8138160" y="3968496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FUNDAMENTALS  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132A54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194560" y="4937760"/>
            <a:ext cx="4572000" cy="4572000"/>
          </a:xfrm>
          <a:prstGeom prst="ellipse">
            <a:avLst/>
          </a:prstGeom>
          <a:solidFill>
            <a:srgbClr val="132A54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52120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allows applications to communicate and exchange data.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communicates with the backend through APIs.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applications were often tightly coupled.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is a modern Python framework for building APIs.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Starlette handles web / HTTP functionality.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0" y="1600200"/>
            <a:ext cx="52120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handles data validation.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supports asynchronous programming.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is used to test APIs.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status codes tell us the result of a request.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5623560"/>
            <a:ext cx="10698480" cy="777240"/>
          </a:xfrm>
          <a:prstGeom prst="roundRect">
            <a:avLst>
              <a:gd name="adj" fmla="val 10588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562356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Pydantic in Detail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FUNDAMENTALS  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1533</Words>
  <Application>Microsoft Office PowerPoint</Application>
  <PresentationFormat>Widescreen</PresentationFormat>
  <Paragraphs>512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Harshal Ghorpade</cp:lastModifiedBy>
  <cp:revision>1</cp:revision>
  <dcterms:created xsi:type="dcterms:W3CDTF">2026-09-01T21:33:21Z</dcterms:created>
  <dcterms:modified xsi:type="dcterms:W3CDTF">2026-09-02T07:40:09Z</dcterms:modified>
</cp:coreProperties>
</file>